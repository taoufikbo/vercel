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3474720"/>
            <a:ext cx="8823960" cy="45720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Hat OpenShift AI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Décryptage Expert des Briques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· Utilité · Limites · Concurrents · Prérequis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82296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63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Fil rouge : </a:t>
            </a:r>
            <a:pPr indent="0" marL="0">
              <a:buNone/>
            </a:pPr>
            <a:r>
              <a:rPr lang="en-US" sz="13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 Telco — LLM interne pour triage automatique des incidents réseau 5G/RAN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/ Architecture CaaS Bare-Metal ·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64008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Notions Fondamentales — Glossaire IA/ML 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concepts de base pour lire ce deck — définitions opérationnelles + analogie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" y="1170432"/>
            <a:ext cx="4315968" cy="1170432"/>
          </a:xfrm>
          <a:prstGeom prst="rect">
            <a:avLst/>
          </a:prstGeom>
          <a:solidFill>
            <a:srgbClr val="1A2A3F"/>
          </a:solidFill>
          <a:ln w="19050">
            <a:solidFill>
              <a:srgbClr val="00B9C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" y="1170432"/>
            <a:ext cx="4315968" cy="5486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" y="1261872"/>
            <a:ext cx="777240" cy="32918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1261872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" y="1289304"/>
            <a:ext cx="3264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" y="1627632"/>
            <a:ext cx="413308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réseau de neurones entraîné sur des milliards de textes pour prédire le token suivant. Capable de générer du texte, répondre à des questions, résumer, classer. Ex : GPT-4, Granite, Mistral, Llama.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2880" y="2066544"/>
            <a:ext cx="4133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〉 </a:t>
            </a:r>
            <a:pPr indent="0" marL="0">
              <a:buNone/>
            </a:pPr>
            <a:r>
              <a:rPr lang="en-US" sz="85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stagiaire qui a lu toute la bibliothèque — mais qui peut halluciner avec confiance.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44568" y="1170432"/>
            <a:ext cx="4315968" cy="1170432"/>
          </a:xfrm>
          <a:prstGeom prst="rect">
            <a:avLst/>
          </a:prstGeom>
          <a:solidFill>
            <a:srgbClr val="1A2A3F"/>
          </a:solidFill>
          <a:ln w="19050">
            <a:solidFill>
              <a:srgbClr val="2ECC7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44568" y="1170432"/>
            <a:ext cx="4315968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4" name="Shape 12"/>
          <p:cNvSpPr/>
          <p:nvPr/>
        </p:nvSpPr>
        <p:spPr>
          <a:xfrm>
            <a:off x="4636008" y="1261872"/>
            <a:ext cx="777240" cy="32918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5" name="Text 13"/>
          <p:cNvSpPr/>
          <p:nvPr/>
        </p:nvSpPr>
        <p:spPr>
          <a:xfrm>
            <a:off x="4636008" y="1261872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04688" y="1289304"/>
            <a:ext cx="3264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Unité de base du texte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36008" y="1627632"/>
            <a:ext cx="413308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 de texte (mot, sous-mot, ponctuation) que le LLM traite. ~1 token ≈ 0.75 mot en anglais. Un contexte de 128K tokens ≈ 100 000 mots. La limite de contexte = la mémoire de travail du modèle.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36008" y="2066544"/>
            <a:ext cx="4133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〉 </a:t>
            </a:r>
            <a:pPr indent="0" marL="0">
              <a:buNone/>
            </a:pPr>
            <a:r>
              <a:rPr lang="en-US" sz="85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briques LEGO du texte — le LLM prédit la brique suivante à chaque étape de génération.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1440" y="2432304"/>
            <a:ext cx="4315968" cy="1170432"/>
          </a:xfrm>
          <a:prstGeom prst="rect">
            <a:avLst/>
          </a:prstGeom>
          <a:solidFill>
            <a:srgbClr val="1A2A3F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" y="2432304"/>
            <a:ext cx="4315968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Shape 19"/>
          <p:cNvSpPr/>
          <p:nvPr/>
        </p:nvSpPr>
        <p:spPr>
          <a:xfrm>
            <a:off x="182880" y="2523744"/>
            <a:ext cx="777240" cy="32918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2523744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51560" y="2551176"/>
            <a:ext cx="3264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Représentation vectorielle sémantique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82880" y="2889504"/>
            <a:ext cx="413308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d'un texte en vecteur numérique (ex : 768 dimensions). Deux phrases sémantiquement proches ont des vecteurs proches. Base de la recherche sémantique, du clustering et du RAG.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82880" y="3328416"/>
            <a:ext cx="4133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〉 </a:t>
            </a:r>
            <a:pPr indent="0" marL="0">
              <a:buNone/>
            </a:pPr>
            <a:r>
              <a:rPr lang="en-US" sz="85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du sens : 'Panne Nokia' et 'défaillance équipement Nokia' ont des coordonnées proches dans l'espace vectoriel.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44568" y="2432304"/>
            <a:ext cx="4315968" cy="1170432"/>
          </a:xfrm>
          <a:prstGeom prst="rect">
            <a:avLst/>
          </a:prstGeom>
          <a:solidFill>
            <a:srgbClr val="1A2A3F"/>
          </a:solidFill>
          <a:ln w="19050">
            <a:solidFill>
              <a:srgbClr val="E6303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44568" y="2432304"/>
            <a:ext cx="4315968" cy="54864"/>
          </a:xfrm>
          <a:prstGeom prst="rect">
            <a:avLst/>
          </a:prstGeom>
          <a:solidFill>
            <a:srgbClr val="E63030"/>
          </a:solidFill>
          <a:ln/>
        </p:spPr>
      </p:sp>
      <p:sp>
        <p:nvSpPr>
          <p:cNvPr id="28" name="Shape 26"/>
          <p:cNvSpPr/>
          <p:nvPr/>
        </p:nvSpPr>
        <p:spPr>
          <a:xfrm>
            <a:off x="4636008" y="2523744"/>
            <a:ext cx="777240" cy="329184"/>
          </a:xfrm>
          <a:prstGeom prst="rect">
            <a:avLst/>
          </a:prstGeom>
          <a:solidFill>
            <a:srgbClr val="E63030"/>
          </a:solidFill>
          <a:ln/>
        </p:spPr>
      </p:sp>
      <p:sp>
        <p:nvSpPr>
          <p:cNvPr id="29" name="Text 27"/>
          <p:cNvSpPr/>
          <p:nvPr/>
        </p:nvSpPr>
        <p:spPr>
          <a:xfrm>
            <a:off x="4636008" y="2523744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04688" y="2551176"/>
            <a:ext cx="3264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36008" y="2889504"/>
            <a:ext cx="413308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combinant recherche vectorielle (retrieve) + génération LLM (generate). Au lieu de mémoriser tout dans le modèle, on interroge une base de documents en temps réel et on injecte les passages pertinents dans le prompt.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636008" y="3328416"/>
            <a:ext cx="4133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〉 </a:t>
            </a:r>
            <a:pPr indent="0" marL="0">
              <a:buNone/>
            </a:pPr>
            <a:r>
              <a:rPr lang="en-US" sz="85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LLM avec accès à une bibliothèque consultable en live — vs le LLM sans RAG qui ne sait que ce qu'il a mémorisé.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1440" y="3694176"/>
            <a:ext cx="4315968" cy="1170432"/>
          </a:xfrm>
          <a:prstGeom prst="rect">
            <a:avLst/>
          </a:prstGeom>
          <a:solidFill>
            <a:srgbClr val="1A2A3F"/>
          </a:solidFill>
          <a:ln w="19050">
            <a:solidFill>
              <a:srgbClr val="00B9C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1440" y="3694176"/>
            <a:ext cx="4315968" cy="5486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" y="3785616"/>
            <a:ext cx="777240" cy="32918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36" name="Text 34"/>
          <p:cNvSpPr/>
          <p:nvPr/>
        </p:nvSpPr>
        <p:spPr>
          <a:xfrm>
            <a:off x="182880" y="3785616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51560" y="3813048"/>
            <a:ext cx="3264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Ajustement fin sur données domaine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82880" y="4151376"/>
            <a:ext cx="413308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Ré-entraînement d'un LLM pré-entraîné sur un dataset métier spécifique pour spécialiser ses réponses. Coûteux mais produit un modèle qui 'parle' le vocabulaire du domaine (telco, médical, juridique…).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82880" y="4590288"/>
            <a:ext cx="4133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〉 </a:t>
            </a:r>
            <a:pPr indent="0" marL="0">
              <a:buNone/>
            </a:pPr>
            <a:r>
              <a:rPr lang="en-US" sz="85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Prendre un généraliste diplômé et lui faire faire une spécialisation telco de 6 mois sur vos propres cas réels.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44568" y="3694176"/>
            <a:ext cx="4315968" cy="1170432"/>
          </a:xfrm>
          <a:prstGeom prst="rect">
            <a:avLst/>
          </a:prstGeom>
          <a:solidFill>
            <a:srgbClr val="1A2A3F"/>
          </a:solidFill>
          <a:ln w="19050">
            <a:solidFill>
              <a:srgbClr val="2ECC7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44568" y="3694176"/>
            <a:ext cx="4315968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2" name="Shape 40"/>
          <p:cNvSpPr/>
          <p:nvPr/>
        </p:nvSpPr>
        <p:spPr>
          <a:xfrm>
            <a:off x="4636008" y="3785616"/>
            <a:ext cx="777240" cy="32918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3" name="Text 41"/>
          <p:cNvSpPr/>
          <p:nvPr/>
        </p:nvSpPr>
        <p:spPr>
          <a:xfrm>
            <a:off x="4636008" y="3785616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04688" y="3813048"/>
            <a:ext cx="3264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textuelle au LLM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36008" y="4151376"/>
            <a:ext cx="413308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texte d'entrée donné au LLM pour obtenir une réponse. Peut inclure contexte, instructions, exemples (few-shot), format attendu. 'Prompt engineering' = l'art de formuler ces instructions efficacement.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636008" y="4590288"/>
            <a:ext cx="4133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〉 </a:t>
            </a:r>
            <a:pPr indent="0" marL="0">
              <a:buNone/>
            </a:pPr>
            <a:r>
              <a:rPr lang="en-US" sz="85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brief que vous donnez à votre équipe. Mauvais brief = mauvais livrable, même avec le meilleur modèle.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64008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Notions Fondamentales — Glossaire IA/ML 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Infra, pipeline, cycle de vie modèle — le vocabulaire opérationnel MLOps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" y="1170432"/>
            <a:ext cx="4315968" cy="1051560"/>
          </a:xfrm>
          <a:prstGeom prst="rect">
            <a:avLst/>
          </a:prstGeom>
          <a:solidFill>
            <a:srgbClr val="1A2A3F"/>
          </a:solidFill>
          <a:ln w="19050">
            <a:solidFill>
              <a:srgbClr val="00B9C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" y="1170432"/>
            <a:ext cx="4315968" cy="5486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" y="1252728"/>
            <a:ext cx="1005840" cy="301752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1252728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61872" y="1261872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interactif Data Science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82880" y="1591056"/>
            <a:ext cx="41330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(JupyterLab) combinant code Python exécutable, résultats immédiats et texte dans le même document. Outil central du Data Scientist pour exploration, prototypage et visualisation de données.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82880" y="1984248"/>
            <a:ext cx="413308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〉 </a:t>
            </a:r>
            <a:pPr indent="0" marL="0">
              <a:buNone/>
            </a:pPr>
            <a:r>
              <a:rPr lang="en-US" sz="8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tableau blanc interactif : chaque cellule de code s'exécute à la demande — pas un script batch aveugle en boîte noire.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44568" y="1170432"/>
            <a:ext cx="4315968" cy="1051560"/>
          </a:xfrm>
          <a:prstGeom prst="rect">
            <a:avLst/>
          </a:prstGeom>
          <a:solidFill>
            <a:srgbClr val="1A2A3F"/>
          </a:solidFill>
          <a:ln w="19050">
            <a:solidFill>
              <a:srgbClr val="2ECC7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44568" y="1170432"/>
            <a:ext cx="4315968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4" name="Shape 12"/>
          <p:cNvSpPr/>
          <p:nvPr/>
        </p:nvSpPr>
        <p:spPr>
          <a:xfrm>
            <a:off x="4636008" y="1252728"/>
            <a:ext cx="1005840" cy="30175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5" name="Text 13"/>
          <p:cNvSpPr/>
          <p:nvPr/>
        </p:nvSpPr>
        <p:spPr>
          <a:xfrm>
            <a:off x="4636008" y="1252728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15000" y="1261872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 de poids entraînés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36008" y="1591056"/>
            <a:ext cx="41330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Fichier(s) contenant les paramètres appris (poids) d'un réseau de neurones. Un LLM 13B = 13 milliards de nombres flottants (~26 Go en FP16). Encapsule la 'connaissance' acquise durant l'entraînement.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36008" y="1984248"/>
            <a:ext cx="413308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〉 </a:t>
            </a:r>
            <a:pPr indent="0" marL="0">
              <a:buNone/>
            </a:pPr>
            <a:r>
              <a:rPr lang="en-US" sz="8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boîte noire mathématique qui transforme un texte d'entrée en sortie selon les patterns statistiques vus à l'entraînement.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1440" y="2295144"/>
            <a:ext cx="4315968" cy="1051560"/>
          </a:xfrm>
          <a:prstGeom prst="rect">
            <a:avLst/>
          </a:prstGeom>
          <a:solidFill>
            <a:srgbClr val="1A2A3F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" y="2295144"/>
            <a:ext cx="4315968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Shape 19"/>
          <p:cNvSpPr/>
          <p:nvPr/>
        </p:nvSpPr>
        <p:spPr>
          <a:xfrm>
            <a:off x="182880" y="2377440"/>
            <a:ext cx="1005840" cy="3017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2377440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61872" y="2386584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 du réseau de neurones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82880" y="2715768"/>
            <a:ext cx="41330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des poids sur un grand dataset (descente de gradient). Pré-training = données générales (mois, GPU clusters). Fine-tuning = adaptation domaine (heures/jours, quelques GPU). Les deux coûtent du compute.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82880" y="3108960"/>
            <a:ext cx="413308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〉 </a:t>
            </a:r>
            <a:pPr indent="0" marL="0">
              <a:buNone/>
            </a:pPr>
            <a:r>
              <a:rPr lang="en-US" sz="8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pré-training est le bac général. Le fine-tuning est la spécialisation. L'un sans l'autre ne fait pas un expert métier.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44568" y="2295144"/>
            <a:ext cx="4315968" cy="1051560"/>
          </a:xfrm>
          <a:prstGeom prst="rect">
            <a:avLst/>
          </a:prstGeom>
          <a:solidFill>
            <a:srgbClr val="1A2A3F"/>
          </a:solidFill>
          <a:ln w="19050">
            <a:solidFill>
              <a:srgbClr val="E6303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44568" y="2295144"/>
            <a:ext cx="4315968" cy="54864"/>
          </a:xfrm>
          <a:prstGeom prst="rect">
            <a:avLst/>
          </a:prstGeom>
          <a:solidFill>
            <a:srgbClr val="E63030"/>
          </a:solidFill>
          <a:ln/>
        </p:spPr>
      </p:sp>
      <p:sp>
        <p:nvSpPr>
          <p:cNvPr id="28" name="Shape 26"/>
          <p:cNvSpPr/>
          <p:nvPr/>
        </p:nvSpPr>
        <p:spPr>
          <a:xfrm>
            <a:off x="4636008" y="2377440"/>
            <a:ext cx="1005840" cy="301752"/>
          </a:xfrm>
          <a:prstGeom prst="rect">
            <a:avLst/>
          </a:prstGeom>
          <a:solidFill>
            <a:srgbClr val="E63030"/>
          </a:solidFill>
          <a:ln/>
        </p:spPr>
      </p:sp>
      <p:sp>
        <p:nvSpPr>
          <p:cNvPr id="29" name="Text 27"/>
          <p:cNvSpPr/>
          <p:nvPr/>
        </p:nvSpPr>
        <p:spPr>
          <a:xfrm>
            <a:off x="4636008" y="2377440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15000" y="2386584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en production (serving)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636008" y="2715768"/>
            <a:ext cx="41330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d'utilisation du modèle entraîné pour produire des prédictions. Le modèle est figé (poids fixes). KServe + vLLM servent l'inférence. Métrique clé : TTFT (Time To First Token) et throughput tokens/sec.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36008" y="3108960"/>
            <a:ext cx="413308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6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〉 </a:t>
            </a:r>
            <a:pPr indent="0" marL="0">
              <a:buNone/>
            </a:pPr>
            <a:r>
              <a:rPr lang="en-US" sz="8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= apprendre à conduire (coûteux, rare). Inference = conduire au quotidien (latence, débit, disponibilité).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91440" y="3419856"/>
            <a:ext cx="4315968" cy="1051560"/>
          </a:xfrm>
          <a:prstGeom prst="rect">
            <a:avLst/>
          </a:prstGeom>
          <a:solidFill>
            <a:srgbClr val="1A2A3F"/>
          </a:solidFill>
          <a:ln w="19050">
            <a:solidFill>
              <a:srgbClr val="00B9C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1440" y="3419856"/>
            <a:ext cx="4315968" cy="5486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" y="3502152"/>
            <a:ext cx="1005840" cy="301752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36" name="Text 34"/>
          <p:cNvSpPr/>
          <p:nvPr/>
        </p:nvSpPr>
        <p:spPr>
          <a:xfrm>
            <a:off x="182880" y="3502152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261872" y="3511296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d'orchestration LLM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82880" y="3840480"/>
            <a:ext cx="41330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 Python chaînant appels LLM + outils (recherche, BDD, API). Facilite RAG, agents, mémoire. Très populaire pour les POC. Souvent remplacé en prod par LlamaIndex ou DSPy (abstraction excessive).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82880" y="4233672"/>
            <a:ext cx="413308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〉 </a:t>
            </a:r>
            <a:pPr indent="0" marL="0">
              <a:buNone/>
            </a:pPr>
            <a:r>
              <a:rPr lang="en-US" sz="8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colle entre le LLM et le reste du SI. Idéal pour prototyper vite. Controversé pour la prod à cause de la complexité cachée.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44568" y="3419856"/>
            <a:ext cx="4315968" cy="1051560"/>
          </a:xfrm>
          <a:prstGeom prst="rect">
            <a:avLst/>
          </a:prstGeom>
          <a:solidFill>
            <a:srgbClr val="1A2A3F"/>
          </a:solidFill>
          <a:ln w="19050">
            <a:solidFill>
              <a:srgbClr val="2ECC7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44568" y="3419856"/>
            <a:ext cx="4315968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2" name="Shape 40"/>
          <p:cNvSpPr/>
          <p:nvPr/>
        </p:nvSpPr>
        <p:spPr>
          <a:xfrm>
            <a:off x="4636008" y="3502152"/>
            <a:ext cx="1005840" cy="30175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3" name="Text 41"/>
          <p:cNvSpPr/>
          <p:nvPr/>
        </p:nvSpPr>
        <p:spPr>
          <a:xfrm>
            <a:off x="4636008" y="3502152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715000" y="3511296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vectorielle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636008" y="3840480"/>
            <a:ext cx="41330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spécialisée dans le stockage et la recherche d'embeddings par similarité cosine. Exemples : Qdrant, Weaviate, Milvus, pgvector. Brique centrale de tout pipeline RAG. Remplace la recherche full-text (Elasticsearch) pour le sens.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636008" y="4233672"/>
            <a:ext cx="413308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〉 </a:t>
            </a:r>
            <a:pPr indent="0" marL="0">
              <a:buNone/>
            </a:pPr>
            <a:r>
              <a:rPr lang="en-US" sz="8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bibliothèque qui retrouve les documents 'proches par sens' de votre requête — pas juste par mot-clé exact.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91440" y="4544568"/>
            <a:ext cx="4315968" cy="1051560"/>
          </a:xfrm>
          <a:prstGeom prst="rect">
            <a:avLst/>
          </a:prstGeom>
          <a:solidFill>
            <a:srgbClr val="1A2A3F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1440" y="4544568"/>
            <a:ext cx="4315968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9" name="Shape 47"/>
          <p:cNvSpPr/>
          <p:nvPr/>
        </p:nvSpPr>
        <p:spPr>
          <a:xfrm>
            <a:off x="182880" y="4626864"/>
            <a:ext cx="1005840" cy="3017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0" name="Text 48"/>
          <p:cNvSpPr/>
          <p:nvPr/>
        </p:nvSpPr>
        <p:spPr>
          <a:xfrm>
            <a:off x="182880" y="4626864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261872" y="4636008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des poids numériques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82880" y="4965192"/>
            <a:ext cx="41330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de la précision des poids FP32/FP16 → INT8/INT4. Réduit l'empreinte VRAM et accélère l'inférence. Perte de qualité généralement &lt; 2%. Outils : llm-compressor, GPTQ, AWQ, BitsAndBytes.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82880" y="5358384"/>
            <a:ext cx="413308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〉 </a:t>
            </a:r>
            <a:pPr indent="0" marL="0">
              <a:buNone/>
            </a:pPr>
            <a:r>
              <a:rPr lang="en-US" sz="8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d'un FLAC audio (48 Go) à un MP3 bien encodé (3 Go) — l'oreille (le modèle) ne voit presque pas la différence.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544568" y="4544568"/>
            <a:ext cx="4315968" cy="1051560"/>
          </a:xfrm>
          <a:prstGeom prst="rect">
            <a:avLst/>
          </a:prstGeom>
          <a:solidFill>
            <a:srgbClr val="1A2A3F"/>
          </a:solidFill>
          <a:ln w="19050">
            <a:solidFill>
              <a:srgbClr val="E6303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544568" y="4544568"/>
            <a:ext cx="4315968" cy="54864"/>
          </a:xfrm>
          <a:prstGeom prst="rect">
            <a:avLst/>
          </a:prstGeom>
          <a:solidFill>
            <a:srgbClr val="E63030"/>
          </a:solidFill>
          <a:ln/>
        </p:spPr>
      </p:sp>
      <p:sp>
        <p:nvSpPr>
          <p:cNvPr id="56" name="Shape 54"/>
          <p:cNvSpPr/>
          <p:nvPr/>
        </p:nvSpPr>
        <p:spPr>
          <a:xfrm>
            <a:off x="4636008" y="4626864"/>
            <a:ext cx="1005840" cy="301752"/>
          </a:xfrm>
          <a:prstGeom prst="rect">
            <a:avLst/>
          </a:prstGeom>
          <a:solidFill>
            <a:srgbClr val="E63030"/>
          </a:solidFill>
          <a:ln/>
        </p:spPr>
      </p:sp>
      <p:sp>
        <p:nvSpPr>
          <p:cNvPr id="57" name="Text 55"/>
          <p:cNvSpPr/>
          <p:nvPr/>
        </p:nvSpPr>
        <p:spPr>
          <a:xfrm>
            <a:off x="4636008" y="4626864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715000" y="4636008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appliqué au cycle de vie ML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636008" y="4965192"/>
            <a:ext cx="41330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Pratiques (GitOps, CI/CD, monitoring, versioning) appliquées aux modèles pour garantir reproductibilité et fiabilité en production. ArgoCD + Kubeflow Pipelines + Model Registry = le trio MLOps de RHOAI.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636008" y="5358384"/>
            <a:ext cx="413308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6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〉 </a:t>
            </a:r>
            <a:pPr indent="0" marL="0">
              <a:buNone/>
            </a:pPr>
            <a:r>
              <a:rPr lang="en-US" sz="8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sépare un modèle qui marche dans un notebook d'un modèle qui délivre de la valeur en production à 3h du matin.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64008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: La Chaîne MLOps/LLMOps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donnée brute au modèle supervisé en production — 7 phases, 20+ outils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9728" y="1280160"/>
            <a:ext cx="1371600" cy="1645920"/>
          </a:xfrm>
          <a:prstGeom prst="rect">
            <a:avLst/>
          </a:prstGeom>
          <a:solidFill>
            <a:srgbClr val="1A2A3F"/>
          </a:solidFill>
          <a:ln w="25400">
            <a:solidFill>
              <a:srgbClr val="00B9C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5448" y="13258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" y="2148840"/>
            <a:ext cx="914400" cy="36576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" y="21945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81328" y="2057400"/>
            <a:ext cx="118872" cy="73152"/>
          </a:xfrm>
          <a:prstGeom prst="rect">
            <a:avLst/>
          </a:prstGeom>
          <a:solidFill>
            <a:srgbClr val="8B9BB4"/>
          </a:solidFill>
          <a:ln/>
        </p:spPr>
      </p:sp>
      <p:sp>
        <p:nvSpPr>
          <p:cNvPr id="10" name="Shape 8"/>
          <p:cNvSpPr/>
          <p:nvPr/>
        </p:nvSpPr>
        <p:spPr>
          <a:xfrm>
            <a:off x="1618488" y="1280160"/>
            <a:ext cx="1371600" cy="1645920"/>
          </a:xfrm>
          <a:prstGeom prst="rect">
            <a:avLst/>
          </a:prstGeom>
          <a:solidFill>
            <a:srgbClr val="1A2A3F"/>
          </a:solidFill>
          <a:ln w="25400">
            <a:solidFill>
              <a:srgbClr val="2ECC7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64208" y="13258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47088" y="2148840"/>
            <a:ext cx="914400" cy="36576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3" name="Text 11"/>
          <p:cNvSpPr/>
          <p:nvPr/>
        </p:nvSpPr>
        <p:spPr>
          <a:xfrm>
            <a:off x="1664208" y="21945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JupyterLab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90088" y="2057400"/>
            <a:ext cx="118872" cy="73152"/>
          </a:xfrm>
          <a:prstGeom prst="rect">
            <a:avLst/>
          </a:prstGeom>
          <a:solidFill>
            <a:srgbClr val="8B9BB4"/>
          </a:solidFill>
          <a:ln/>
        </p:spPr>
      </p:sp>
      <p:sp>
        <p:nvSpPr>
          <p:cNvPr id="15" name="Shape 13"/>
          <p:cNvSpPr/>
          <p:nvPr/>
        </p:nvSpPr>
        <p:spPr>
          <a:xfrm>
            <a:off x="3127248" y="1280160"/>
            <a:ext cx="1371600" cy="1645920"/>
          </a:xfrm>
          <a:prstGeom prst="rect">
            <a:avLst/>
          </a:prstGeom>
          <a:solidFill>
            <a:srgbClr val="1A2A3F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72968" y="13258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55848" y="2148840"/>
            <a:ext cx="9144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3172968" y="21945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Ray/Kubeflow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98848" y="2057400"/>
            <a:ext cx="118872" cy="73152"/>
          </a:xfrm>
          <a:prstGeom prst="rect">
            <a:avLst/>
          </a:prstGeom>
          <a:solidFill>
            <a:srgbClr val="8B9BB4"/>
          </a:solidFill>
          <a:ln/>
        </p:spPr>
      </p:sp>
      <p:sp>
        <p:nvSpPr>
          <p:cNvPr id="20" name="Shape 18"/>
          <p:cNvSpPr/>
          <p:nvPr/>
        </p:nvSpPr>
        <p:spPr>
          <a:xfrm>
            <a:off x="4636008" y="1280160"/>
            <a:ext cx="1371600" cy="1645920"/>
          </a:xfrm>
          <a:prstGeom prst="rect">
            <a:avLst/>
          </a:prstGeom>
          <a:solidFill>
            <a:srgbClr val="1A2A3F"/>
          </a:solidFill>
          <a:ln w="25400">
            <a:solidFill>
              <a:srgbClr val="E6303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81728" y="13258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Eval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64608" y="2148840"/>
            <a:ext cx="914400" cy="36576"/>
          </a:xfrm>
          <a:prstGeom prst="rect">
            <a:avLst/>
          </a:prstGeom>
          <a:solidFill>
            <a:srgbClr val="E63030"/>
          </a:solidFill>
          <a:ln/>
        </p:spPr>
      </p:sp>
      <p:sp>
        <p:nvSpPr>
          <p:cNvPr id="23" name="Text 21"/>
          <p:cNvSpPr/>
          <p:nvPr/>
        </p:nvSpPr>
        <p:spPr>
          <a:xfrm>
            <a:off x="4681728" y="21945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llm-compressor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07608" y="2057400"/>
            <a:ext cx="118872" cy="73152"/>
          </a:xfrm>
          <a:prstGeom prst="rect">
            <a:avLst/>
          </a:prstGeom>
          <a:solidFill>
            <a:srgbClr val="8B9BB4"/>
          </a:solidFill>
          <a:ln/>
        </p:spPr>
      </p:sp>
      <p:sp>
        <p:nvSpPr>
          <p:cNvPr id="25" name="Shape 23"/>
          <p:cNvSpPr/>
          <p:nvPr/>
        </p:nvSpPr>
        <p:spPr>
          <a:xfrm>
            <a:off x="6144768" y="1280160"/>
            <a:ext cx="1371600" cy="1645920"/>
          </a:xfrm>
          <a:prstGeom prst="rect">
            <a:avLst/>
          </a:prstGeom>
          <a:solidFill>
            <a:srgbClr val="1A2A3F"/>
          </a:solidFill>
          <a:ln w="25400">
            <a:solidFill>
              <a:srgbClr val="00B9C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90488" y="13258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73368" y="2148840"/>
            <a:ext cx="914400" cy="36576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28" name="Text 26"/>
          <p:cNvSpPr/>
          <p:nvPr/>
        </p:nvSpPr>
        <p:spPr>
          <a:xfrm>
            <a:off x="6190488" y="21945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vLLM+KServe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516368" y="2057400"/>
            <a:ext cx="118872" cy="73152"/>
          </a:xfrm>
          <a:prstGeom prst="rect">
            <a:avLst/>
          </a:prstGeom>
          <a:solidFill>
            <a:srgbClr val="8B9BB4"/>
          </a:solidFill>
          <a:ln/>
        </p:spPr>
      </p:sp>
      <p:sp>
        <p:nvSpPr>
          <p:cNvPr id="30" name="Shape 28"/>
          <p:cNvSpPr/>
          <p:nvPr/>
        </p:nvSpPr>
        <p:spPr>
          <a:xfrm>
            <a:off x="7653528" y="1280160"/>
            <a:ext cx="1371600" cy="1645920"/>
          </a:xfrm>
          <a:prstGeom prst="rect">
            <a:avLst/>
          </a:prstGeom>
          <a:solidFill>
            <a:srgbClr val="1A2A3F"/>
          </a:solidFill>
          <a:ln w="25400">
            <a:solidFill>
              <a:srgbClr val="2ECC7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99248" y="13258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82128" y="2148840"/>
            <a:ext cx="914400" cy="36576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3" name="Text 31"/>
          <p:cNvSpPr/>
          <p:nvPr/>
        </p:nvSpPr>
        <p:spPr>
          <a:xfrm>
            <a:off x="7699248" y="21945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TrustyAI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9728" y="3063240"/>
            <a:ext cx="8924544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9C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3090672"/>
            <a:ext cx="87782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CI/CD Pipeline (ArgoCD · Kubeflow · Feature Store Feast · AI/ML Experiment Tracking)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2880" y="3703320"/>
            <a:ext cx="2103120" cy="457200"/>
          </a:xfrm>
          <a:prstGeom prst="rect">
            <a:avLst/>
          </a:prstGeom>
          <a:solidFill>
            <a:srgbClr val="0A0F1A"/>
          </a:solidFill>
          <a:ln w="12700">
            <a:solidFill>
              <a:srgbClr val="8B9BB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2880" y="3721608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GPU-as-a-Service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404872" y="3703320"/>
            <a:ext cx="2103120" cy="457200"/>
          </a:xfrm>
          <a:prstGeom prst="rect">
            <a:avLst/>
          </a:prstGeom>
          <a:solidFill>
            <a:srgbClr val="0A0F1A"/>
          </a:solidFill>
          <a:ln w="12700">
            <a:solidFill>
              <a:srgbClr val="8B9BB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04872" y="3721608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Notebook-as-a-Service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26864" y="3703320"/>
            <a:ext cx="2103120" cy="457200"/>
          </a:xfrm>
          <a:prstGeom prst="rect">
            <a:avLst/>
          </a:prstGeom>
          <a:solidFill>
            <a:srgbClr val="0A0F1A"/>
          </a:solidFill>
          <a:ln w="12700">
            <a:solidFill>
              <a:srgbClr val="8B9BB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26864" y="3721608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Model-as-a-Service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848856" y="3703320"/>
            <a:ext cx="2103120" cy="457200"/>
          </a:xfrm>
          <a:prstGeom prst="rect">
            <a:avLst/>
          </a:prstGeom>
          <a:solidFill>
            <a:srgbClr val="0A0F1A"/>
          </a:solidFill>
          <a:ln w="12700">
            <a:solidFill>
              <a:srgbClr val="8B9BB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48856" y="3721608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AI Platform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A0F1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4572000"/>
            <a:ext cx="64008" cy="571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6" name="Text 44"/>
          <p:cNvSpPr/>
          <p:nvPr/>
        </p:nvSpPr>
        <p:spPr>
          <a:xfrm>
            <a:off x="182880" y="4617720"/>
            <a:ext cx="8869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USE CASE TELCO  </a:t>
            </a:r>
            <a:pPr indent="0" marL="0">
              <a:buNone/>
            </a:pPr>
            <a:r>
              <a:rPr lang="en-US" sz="10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triage d'incidents 5G traversera ces 7 phases : collecte logs Nokia/Ericsson → fine-tuning LLM → déploiement API interne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0"/>
            <a:ext cx="8961120" cy="514350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Data Engineering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 — Document Intelligence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Ingestion, chunking et structuration des données brutes pour l'IA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64008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 — Document Chunking &amp; Pre-processing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Research · Open source · Pipeline universel d'ingestion documentaire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" y="117043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" y="1170432"/>
            <a:ext cx="2880360" cy="5486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6733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 en 2023 dans IBM Research (Watson)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Open-sourcé mi-2024 sous licence MIT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directe aux limites de LangChain Document Loaders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Intégré nativement dans RHOAI 2.15+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18104" y="117043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18104" y="1170432"/>
            <a:ext cx="288036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1" name="Text 9"/>
          <p:cNvSpPr/>
          <p:nvPr/>
        </p:nvSpPr>
        <p:spPr>
          <a:xfrm>
            <a:off x="3255264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55264" y="16733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PDF, DOCX, HTML, PPTX, images (OCR)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du Markdown structuré + hiérarchie de titres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de tableaux et figures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sémantique prêt pour embedding RAG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44768" y="117043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44768" y="1170432"/>
            <a:ext cx="2880360" cy="54864"/>
          </a:xfrm>
          <a:prstGeom prst="rect">
            <a:avLst/>
          </a:prstGeom>
          <a:solidFill>
            <a:srgbClr val="E63030"/>
          </a:solidFill>
          <a:ln/>
        </p:spPr>
      </p:sp>
      <p:sp>
        <p:nvSpPr>
          <p:cNvPr id="15" name="Text 13"/>
          <p:cNvSpPr/>
          <p:nvPr/>
        </p:nvSpPr>
        <p:spPr>
          <a:xfrm>
            <a:off x="6281928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81928" y="16733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limité sur documents scannés dégradés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traitement streaming (batch uniquement)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élevée sur PDF &gt; 500 pages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multilingue partielle (arabe, CJK)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" y="267919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" y="2679192"/>
            <a:ext cx="28803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PROPRIO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" y="31821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Document Intelligence (Form Recognizer)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Textract · Google Document AI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Unstructured.io (SaaS/on-prem payant)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18104" y="267919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18104" y="2679192"/>
            <a:ext cx="2880360" cy="5486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23" name="Text 21"/>
          <p:cNvSpPr/>
          <p:nvPr/>
        </p:nvSpPr>
        <p:spPr>
          <a:xfrm>
            <a:off x="3255264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OPEN SOURCE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55264" y="31821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Document Loaders (moins précis)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open-core (extraction basique)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+ custom pipeline (bricolage)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44768" y="267919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44768" y="2679192"/>
            <a:ext cx="2880360" cy="54864"/>
          </a:xfrm>
          <a:prstGeom prst="rect">
            <a:avLst/>
          </a:prstGeom>
          <a:solidFill>
            <a:srgbClr val="8B9BB4"/>
          </a:solidFill>
          <a:ln/>
        </p:spPr>
      </p:sp>
      <p:sp>
        <p:nvSpPr>
          <p:cNvPr id="27" name="Text 25"/>
          <p:cNvSpPr/>
          <p:nvPr/>
        </p:nvSpPr>
        <p:spPr>
          <a:xfrm>
            <a:off x="6281928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TECHNIQUES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81928" y="31821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 · 4 Go RAM min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optionnel (accélère OCR via easyocr)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S3/MinIO pour stockage des artefacts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Job ou Tekton Pipeline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A0F1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0"/>
            <a:ext cx="64008" cy="571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4617720"/>
            <a:ext cx="8869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USE CASE TELCO  </a:t>
            </a:r>
            <a:pPr indent="0" marL="0">
              <a:buNone/>
            </a:pPr>
            <a:r>
              <a:rPr lang="en-US" sz="10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de 50 000 tickets Nokia OSS, MOP PDF, rapports Ericsson ENM — Docling produit le corpus structuré pour le fine-tuning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0"/>
            <a:ext cx="8961120" cy="514350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Model Development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JupyterLab + InstructLab Ecosystem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Workbench interactif, bibliothèques AI/ML, développement local Podman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64008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JupyterLab — Web-based AI/ML Workbench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Notebook-as-a-Service managé sur OCP · GPU scheduling intégré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" y="117043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" y="1170432"/>
            <a:ext cx="2880360" cy="5486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6733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IPython (2001) → Jupyter Notebook (2014)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JupyterLab 1.0 en 2019 (architecture extension)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RHOAI intègre Workbench spawner depuis v1 (2021)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images (CUDA, ROCm) managés via ImageStreams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18104" y="117043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18104" y="1170432"/>
            <a:ext cx="288036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1" name="Text 9"/>
          <p:cNvSpPr/>
          <p:nvPr/>
        </p:nvSpPr>
        <p:spPr>
          <a:xfrm>
            <a:off x="3255264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55264" y="16733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notebooks avec accès GPU via ResourceClaim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Bibliothèques pré-intégrées : PyTorch, TF, scikit-learn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direct aux PVC (datasets), S3, secrets OCP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isolation via RBAC Kubernetes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44768" y="117043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44768" y="1170432"/>
            <a:ext cx="2880360" cy="54864"/>
          </a:xfrm>
          <a:prstGeom prst="rect">
            <a:avLst/>
          </a:prstGeom>
          <a:solidFill>
            <a:srgbClr val="E63030"/>
          </a:solidFill>
          <a:ln/>
        </p:spPr>
      </p:sp>
      <p:sp>
        <p:nvSpPr>
          <p:cNvPr id="15" name="Text 13"/>
          <p:cNvSpPr/>
          <p:nvPr/>
        </p:nvSpPr>
        <p:spPr>
          <a:xfrm>
            <a:off x="6281928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81928" y="16733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natif pour code production (pas de CI)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 fragile (kernel crashes)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temps-réel limitée vs Databricks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PVC = coût storage si nombreux utilisateurs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" y="267919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" y="2679192"/>
            <a:ext cx="28803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PROPRIO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" y="31821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Notebooks (Delta Lake intégré)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SageMaker Studio · Azure ML Studio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Vertex AI Workbench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18104" y="267919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18104" y="2679192"/>
            <a:ext cx="2880360" cy="5486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23" name="Text 21"/>
          <p:cNvSpPr/>
          <p:nvPr/>
        </p:nvSpPr>
        <p:spPr>
          <a:xfrm>
            <a:off x="3255264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OPEN SOURCE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55264" y="31821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JupyterHub self-hosted (moins intégré)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 + Jupyter extension (dev local)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Deepnote, Hex (SaaS OSS-friendly)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44768" y="267919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44768" y="2679192"/>
            <a:ext cx="2880360" cy="54864"/>
          </a:xfrm>
          <a:prstGeom prst="rect">
            <a:avLst/>
          </a:prstGeom>
          <a:solidFill>
            <a:srgbClr val="8B9BB4"/>
          </a:solidFill>
          <a:ln/>
        </p:spPr>
      </p:sp>
      <p:sp>
        <p:nvSpPr>
          <p:cNvPr id="27" name="Text 25"/>
          <p:cNvSpPr/>
          <p:nvPr/>
        </p:nvSpPr>
        <p:spPr>
          <a:xfrm>
            <a:off x="6281928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TECHNIQUES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81928" y="31821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StorageClass dynamique (RWX si multi-user)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Operator installé (NVIDIA/AMD)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proxy OCP pour auth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8 Go RAM par workbench, 1 GPU shared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A0F1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0"/>
            <a:ext cx="64008" cy="571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4617720"/>
            <a:ext cx="8869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USE CASE TELCO  </a:t>
            </a:r>
            <a:pPr indent="0" marL="0">
              <a:buNone/>
            </a:pPr>
            <a:r>
              <a:rPr lang="en-US" sz="10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scientists Orange accèdent au corpus Docling via PVC, chargent les logs Nokia dans un notebook, explorent les patterns d'incidents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0"/>
            <a:ext cx="8961120" cy="514350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Model Training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InstructLab · Ray · Kubeflow Training Operator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distribué, RLHF synthétique, orchestration GPU multi-nœuds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64008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InstructLab — Synthetic RLHF Fine-tuning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Hat × MIT · LAB method · Taxonomy-driven data generation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" y="117043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" y="1170432"/>
            <a:ext cx="2880360" cy="5486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6733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Papier LAB (Large-scale Alignment for chatBots) MIT 2024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Hat open-source le projet sous Apache 2.0 (jan 2024)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Intégré dans RHOAI comme méthode de fine-tuning officielle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Granite 3.x entraîné avec InstructLab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18104" y="117043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18104" y="1170432"/>
            <a:ext cx="288036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1" name="Text 9"/>
          <p:cNvSpPr/>
          <p:nvPr/>
        </p:nvSpPr>
        <p:spPr>
          <a:xfrm>
            <a:off x="3255264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55264" y="16733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Génère des données synthétiques d'entraînement (taxonomy)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RLHF sans annotateurs humains massifs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: ilab generate → ilab train → ilab test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Réduit le coût fine-tuning de 10-100x vs RLHF classique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44768" y="117043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44768" y="1170432"/>
            <a:ext cx="2880360" cy="54864"/>
          </a:xfrm>
          <a:prstGeom prst="rect">
            <a:avLst/>
          </a:prstGeom>
          <a:solidFill>
            <a:srgbClr val="E63030"/>
          </a:solidFill>
          <a:ln/>
        </p:spPr>
      </p:sp>
      <p:sp>
        <p:nvSpPr>
          <p:cNvPr id="15" name="Text 13"/>
          <p:cNvSpPr/>
          <p:nvPr/>
        </p:nvSpPr>
        <p:spPr>
          <a:xfrm>
            <a:off x="6281928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81928" y="16733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dépend de la taxonomy initiale (garbage in)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Conçu pour Granite — adaptation autres modèles complexe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support multi-modal (vision) natif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limité sans infrastructure GPU haute densité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" y="267919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" y="2679192"/>
            <a:ext cx="28803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PROPRIO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" y="31821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fine-tuning API (GPT-4o)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Constitutional AI (non accessible)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fine-tuning (LoRA managé)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18104" y="267919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18104" y="2679192"/>
            <a:ext cx="2880360" cy="5486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23" name="Text 21"/>
          <p:cNvSpPr/>
          <p:nvPr/>
        </p:nvSpPr>
        <p:spPr>
          <a:xfrm>
            <a:off x="3255264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OPEN SOURCE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55264" y="31821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Axolotl (LoRA/QLoRA généraliste)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LLaMA-Factory (multi-modèles)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OpenRLHF (RLHF pur, plus complexe)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44768" y="267919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44768" y="2679192"/>
            <a:ext cx="2880360" cy="54864"/>
          </a:xfrm>
          <a:prstGeom prst="rect">
            <a:avLst/>
          </a:prstGeom>
          <a:solidFill>
            <a:srgbClr val="8B9BB4"/>
          </a:solidFill>
          <a:ln/>
        </p:spPr>
      </p:sp>
      <p:sp>
        <p:nvSpPr>
          <p:cNvPr id="27" name="Text 25"/>
          <p:cNvSpPr/>
          <p:nvPr/>
        </p:nvSpPr>
        <p:spPr>
          <a:xfrm>
            <a:off x="6281928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TECHNIQUES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81928" y="31821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A100/H100 min 40 Go VRAM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Operator Kubeflow déployé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S3/MinIO pour checkpoints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YAML structurée par domaine métier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A0F1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0"/>
            <a:ext cx="64008" cy="571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4617720"/>
            <a:ext cx="8869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USE CASE TELCO  </a:t>
            </a:r>
            <a:pPr indent="0" marL="0">
              <a:buNone/>
            </a:pPr>
            <a:r>
              <a:rPr lang="en-US" sz="10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Granite 3.1 sur 50K tickets Nokia/Ericsson annotés → le modèle apprend les patterns d'incidents 5G Core spécifiques Orange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64008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+ Kubeflow Training Operator — Distributed Training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d'orchestration calcul distribué pour entraînement à l'échelle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" y="117043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" y="1170432"/>
            <a:ext cx="2880360" cy="5486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6733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fondé par RISELab Berkeley (2017), v2 en 2022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Kubeflow Training Operator issu de tf-operator (Google, 2018)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Ray sur OCP via CodeFlare (IBM → CNCF 2023)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RHOAI 2.x unifie les deux sous un seul opérateur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18104" y="117043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18104" y="1170432"/>
            <a:ext cx="288036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1" name="Text 9"/>
          <p:cNvSpPr/>
          <p:nvPr/>
        </p:nvSpPr>
        <p:spPr>
          <a:xfrm>
            <a:off x="3255264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55264" y="16733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Distribue fine-tuning sur N GPU workers (DDP/FSDP)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Tune : hyperparameter search automatisé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Kubeflow PyTorchJob/TFJob : jobs déclaratifs Kubernetes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 native (worker restart sans perte état)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44768" y="117043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44768" y="1170432"/>
            <a:ext cx="2880360" cy="54864"/>
          </a:xfrm>
          <a:prstGeom prst="rect">
            <a:avLst/>
          </a:prstGeom>
          <a:solidFill>
            <a:srgbClr val="E63030"/>
          </a:solidFill>
          <a:ln/>
        </p:spPr>
      </p:sp>
      <p:sp>
        <p:nvSpPr>
          <p:cNvPr id="15" name="Text 13"/>
          <p:cNvSpPr/>
          <p:nvPr/>
        </p:nvSpPr>
        <p:spPr>
          <a:xfrm>
            <a:off x="6281928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81928" y="16733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 d'apprentissage élevée (Ray Actor model)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difficile sur jobs distribués multi-nœuds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réseau si données non co-localisées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Kubeflow Training Operator &lt; mature que les frameworks NVIDIA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" y="267919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" y="2679192"/>
            <a:ext cx="28803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PROPRIO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" y="31821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DGX Cloud (H100 clusters managés)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Training Jobs · Azure ML Compute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MLflow + Spark ML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18104" y="267919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18104" y="2679192"/>
            <a:ext cx="2880360" cy="5486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23" name="Text 21"/>
          <p:cNvSpPr/>
          <p:nvPr/>
        </p:nvSpPr>
        <p:spPr>
          <a:xfrm>
            <a:off x="3255264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OPEN SOURCE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55264" y="31821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DeepSpeed (Microsoft, ZeRO optimizer)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Megatron-LM (NVIDIA, ultra-scale)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Horovod (Uber, MPI-based)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44768" y="267919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44768" y="2679192"/>
            <a:ext cx="2880360" cy="54864"/>
          </a:xfrm>
          <a:prstGeom prst="rect">
            <a:avLst/>
          </a:prstGeom>
          <a:solidFill>
            <a:srgbClr val="8B9BB4"/>
          </a:solidFill>
          <a:ln/>
        </p:spPr>
      </p:sp>
      <p:sp>
        <p:nvSpPr>
          <p:cNvPr id="27" name="Text 25"/>
          <p:cNvSpPr/>
          <p:nvPr/>
        </p:nvSpPr>
        <p:spPr>
          <a:xfrm>
            <a:off x="6281928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TECHNIQUES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81928" y="31821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NFD + GPU Operator déployés sur OCP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RDMA/InfiniBand recommandé (&gt;8 GPUs)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ReadWriteMany pour checkpoints partagés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CodeFlare Operator si Ray on OCP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A0F1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0"/>
            <a:ext cx="64008" cy="571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4617720"/>
            <a:ext cx="8869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USE CASE TELCO  </a:t>
            </a:r>
            <a:pPr indent="0" marL="0">
              <a:buNone/>
            </a:pPr>
            <a:r>
              <a:rPr lang="en-US" sz="10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 distribué sur 4 nœuds GPU bare-metal Orange (A100) — FSDP pour sharding du modèle 13B sur 8 GPUs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0"/>
            <a:ext cx="8961120" cy="514350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Model Optimization &amp; Evaluation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llm-compressor · GuideLLM · TrustyAI LLM-Eval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Quantization, benchmarking performance, évaluation qualité et biais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64008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llm-compressor — Compression &amp; Quantization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Magic (acq. Red Hat 2024) · Sparse quantization INT4/INT8/FP8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" y="117043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" y="1170432"/>
            <a:ext cx="2880360" cy="5486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6733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Magic fondé 2018 (MIT CSAIL) — CPU inference sparsity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par Red Hat Q4 2024 — intégration RHOAI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SparseML → rebrandé llm-compressor sous Apache 2.0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 maintenant FP8 pour NVIDIA Hopper (H100)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18104" y="117043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18104" y="1170432"/>
            <a:ext cx="288036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1" name="Text 9"/>
          <p:cNvSpPr/>
          <p:nvPr/>
        </p:nvSpPr>
        <p:spPr>
          <a:xfrm>
            <a:off x="3255264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55264" y="16733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 LLM en INT4/INT8/FP8 sans perte majeure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structuré et déstructuré (sparsité)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de connaissance intégrée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vLLM pour serving post-compression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44768" y="117043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44768" y="1170432"/>
            <a:ext cx="2880360" cy="54864"/>
          </a:xfrm>
          <a:prstGeom prst="rect">
            <a:avLst/>
          </a:prstGeom>
          <a:solidFill>
            <a:srgbClr val="E63030"/>
          </a:solidFill>
          <a:ln/>
        </p:spPr>
      </p:sp>
      <p:sp>
        <p:nvSpPr>
          <p:cNvPr id="15" name="Text 13"/>
          <p:cNvSpPr/>
          <p:nvPr/>
        </p:nvSpPr>
        <p:spPr>
          <a:xfrm>
            <a:off x="6281928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81928" y="16733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Dégradation qualité sur tâches reasoning complexes (&gt;20%)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FP8 limité aux GPU Hopper (H100) et Ada (RTX 4090)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quantization-aware training natif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requis pour trouver le bon trade-off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" y="267919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" y="2679192"/>
            <a:ext cx="28803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PROPRIO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" y="31821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TensorRT-LLM (INT8/FP8 optimisé H100)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Neural Compressor (CPU focused)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Qualcomm AI Model Efficiency Toolkit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18104" y="267919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18104" y="2679192"/>
            <a:ext cx="2880360" cy="5486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23" name="Text 21"/>
          <p:cNvSpPr/>
          <p:nvPr/>
        </p:nvSpPr>
        <p:spPr>
          <a:xfrm>
            <a:off x="3255264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OPEN SOURCE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55264" y="31821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GPTQ (AutoGPTQ — INT4 populaire)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AWQ (Activation-aware Weight Quantization)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BitsAndBytes (QLoRA, 4-bit NF4)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44768" y="267919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44768" y="2679192"/>
            <a:ext cx="2880360" cy="54864"/>
          </a:xfrm>
          <a:prstGeom prst="rect">
            <a:avLst/>
          </a:prstGeom>
          <a:solidFill>
            <a:srgbClr val="8B9BB4"/>
          </a:solidFill>
          <a:ln/>
        </p:spPr>
      </p:sp>
      <p:sp>
        <p:nvSpPr>
          <p:cNvPr id="27" name="Text 25"/>
          <p:cNvSpPr/>
          <p:nvPr/>
        </p:nvSpPr>
        <p:spPr>
          <a:xfrm>
            <a:off x="6281928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TECHNIQUES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81928" y="31821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en HuggingFace format (safetensors)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2.1+, CUDA 12.x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avec 24+ Go VRAM pour calibration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 calibration représentatif du domaine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A0F1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0"/>
            <a:ext cx="64008" cy="571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4617720"/>
            <a:ext cx="8869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USE CASE TELCO  </a:t>
            </a:r>
            <a:pPr indent="0" marL="0">
              <a:buNone/>
            </a:pPr>
            <a:r>
              <a:rPr lang="en-US" sz="10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Granite 3.1 13B fine-tuné → quantization INT8 via llm-compressor → taille 50% réduite, latence /2 sur A100, pour déploiement production OCP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64008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GuideLLM + TrustyAI LLM-Eval — Benchmark &amp; Qualité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 benchmarking + évaluation éthique, biais et robustesse du modèle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" y="117043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" y="1170432"/>
            <a:ext cx="2880360" cy="5486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6733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GuideLLM : outil Red Hat pour profiler serving (2024)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TrustyAI : projet CNCF issu de IBM Trustworthy AI (2022)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LLM-Eval intégré dans RHOAI 2.13 (automne 2024)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lm-evaluation-harness (EleutherAI)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18104" y="117043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18104" y="1170432"/>
            <a:ext cx="288036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1" name="Text 9"/>
          <p:cNvSpPr/>
          <p:nvPr/>
        </p:nvSpPr>
        <p:spPr>
          <a:xfrm>
            <a:off x="3255264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55264" y="16733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GuideLLM : TTFT, throughput, P99 latency sous charge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TrustyAI : détection biais (fairness metrics)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LLM-Eval : benchmarks MMLU, TruthfulQA, HumanEval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de rapports conformité IA Act EU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44768" y="117043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44768" y="1170432"/>
            <a:ext cx="2880360" cy="54864"/>
          </a:xfrm>
          <a:prstGeom prst="rect">
            <a:avLst/>
          </a:prstGeom>
          <a:solidFill>
            <a:srgbClr val="E63030"/>
          </a:solidFill>
          <a:ln/>
        </p:spPr>
      </p:sp>
      <p:sp>
        <p:nvSpPr>
          <p:cNvPr id="15" name="Text 13"/>
          <p:cNvSpPr/>
          <p:nvPr/>
        </p:nvSpPr>
        <p:spPr>
          <a:xfrm>
            <a:off x="6281928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81928" y="16733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GuideLLM : scénarios de charge non multi-tenants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TrustyAI biais limité au tabular (LLM text moins couvert)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génériques ≠ eval domaine métier (telco)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eval temps-réel en production (batch)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" y="267919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" y="2679192"/>
            <a:ext cx="28803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PROPRIO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" y="31821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 Benchmarking Tools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&amp; Biases Evals (commercial)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18104" y="267919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18104" y="2679192"/>
            <a:ext cx="2880360" cy="5486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23" name="Text 21"/>
          <p:cNvSpPr/>
          <p:nvPr/>
        </p:nvSpPr>
        <p:spPr>
          <a:xfrm>
            <a:off x="3255264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OPEN SOURCE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55264" y="31821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lm-evaluation-harness (EleutherAI)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(évaluation RAG pipeline)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 (assertions LLM testing)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Prometheus-LLM-Eval (LLM-as-judge)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44768" y="267919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44768" y="2679192"/>
            <a:ext cx="2880360" cy="54864"/>
          </a:xfrm>
          <a:prstGeom prst="rect">
            <a:avLst/>
          </a:prstGeom>
          <a:solidFill>
            <a:srgbClr val="8B9BB4"/>
          </a:solidFill>
          <a:ln/>
        </p:spPr>
      </p:sp>
      <p:sp>
        <p:nvSpPr>
          <p:cNvPr id="27" name="Text 25"/>
          <p:cNvSpPr/>
          <p:nvPr/>
        </p:nvSpPr>
        <p:spPr>
          <a:xfrm>
            <a:off x="6281928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TECHNIQUES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81928" y="31821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KServe/vLLM opérationnel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d'évaluation métier annoté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Grafana/Prometheus pour métriques GuideLLM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pour accès TrustyAI dashboard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A0F1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0"/>
            <a:ext cx="64008" cy="571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4617720"/>
            <a:ext cx="8869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USE CASE TELCO  </a:t>
            </a:r>
            <a:pPr indent="0" marL="0">
              <a:buNone/>
            </a:pPr>
            <a:r>
              <a:rPr lang="en-US" sz="10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du modèle de triage : latence P99 &lt; 2s pour 100 req/min (GuideLLM), précision &gt; 92% sur tickets de test annotés par équipe NOC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0"/>
            <a:ext cx="8961120" cy="514350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Model Deployment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KServe · vLLM · OpenVINO · llm-d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multi-runtime, inférence haute performance, LLM distribué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64008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KServe — Model Serving Platform (Inference Gateway)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CNCF · Multi-runtime · Serverless model serving sur Kubernetes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" y="117043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" y="1170432"/>
            <a:ext cx="2880360" cy="5486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6733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 de KFServing (Kubeflow) en 2019 par Google/IBM/Bloomberg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Rebrandé KServe en 2021, donation CNCF sandbox 2022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v0.13 (2024) : LLM raw deployment + gateway routing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natif vLLM, Triton, TorchServe, OpenVINO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18104" y="117043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18104" y="1170432"/>
            <a:ext cx="288036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1" name="Text 9"/>
          <p:cNvSpPr/>
          <p:nvPr/>
        </p:nvSpPr>
        <p:spPr>
          <a:xfrm>
            <a:off x="3255264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55264" y="16733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K8s pour déployer N runtimes sans YAML custom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Autoscaling via KEDA (sur métriques custom : queue depth)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Canary, shadow, A/B testing via InferenceGraph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entre composants, OPA policy intégrée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44768" y="117043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44768" y="1170432"/>
            <a:ext cx="2880360" cy="54864"/>
          </a:xfrm>
          <a:prstGeom prst="rect">
            <a:avLst/>
          </a:prstGeom>
          <a:solidFill>
            <a:srgbClr val="E63030"/>
          </a:solidFill>
          <a:ln/>
        </p:spPr>
      </p:sp>
      <p:sp>
        <p:nvSpPr>
          <p:cNvPr id="15" name="Text 13"/>
          <p:cNvSpPr/>
          <p:nvPr/>
        </p:nvSpPr>
        <p:spPr>
          <a:xfrm>
            <a:off x="6281928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81928" y="16733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 opérationnelle élevée (CRDs multiples)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Knative requis pour serverless (dépendance lourde)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réseau difficile (Istio/Service Mesh requis)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inference protocol : interopérabilité partielle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" y="267919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" y="2679192"/>
            <a:ext cx="28803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PROPRIO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" y="31821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Triton Inference Server (perf brute)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SageMaker Endpoints · Azure ML Online Endpoints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Prediction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18104" y="267919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18104" y="2679192"/>
            <a:ext cx="2880360" cy="5486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23" name="Text 21"/>
          <p:cNvSpPr/>
          <p:nvPr/>
        </p:nvSpPr>
        <p:spPr>
          <a:xfrm>
            <a:off x="3255264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OPEN SOURCE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55264" y="31821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Serve (plus flexible, moins structuré)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BentoML (packaging-first)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Seldon Core (MLOps-first, même niche)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44768" y="267919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44768" y="2679192"/>
            <a:ext cx="2880360" cy="54864"/>
          </a:xfrm>
          <a:prstGeom prst="rect">
            <a:avLst/>
          </a:prstGeom>
          <a:solidFill>
            <a:srgbClr val="8B9BB4"/>
          </a:solidFill>
          <a:ln/>
        </p:spPr>
      </p:sp>
      <p:sp>
        <p:nvSpPr>
          <p:cNvPr id="27" name="Text 25"/>
          <p:cNvSpPr/>
          <p:nvPr/>
        </p:nvSpPr>
        <p:spPr>
          <a:xfrm>
            <a:off x="6281928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TECHNIQUES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81928" y="31821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OCP 4.12+ avec Service Mesh (Istio)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Cert-manager pour mTLS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KEDA Operator pour autoscaling LLM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StorageClass pour model cache (PVC RWX)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A0F1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0"/>
            <a:ext cx="64008" cy="571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4617720"/>
            <a:ext cx="8869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USE CASE TELCO  </a:t>
            </a:r>
            <a:pPr indent="0" marL="0">
              <a:buNone/>
            </a:pPr>
            <a:r>
              <a:rPr lang="en-US" sz="10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KServe déploie le runtime vLLM en InferenceService OCP — autoscale de 1 à 4 réplicas GPU selon la charge NOC (incidents majeurs : surge x10)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64008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— High-Throughput LLM Inference Engine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Berkeley Sky Computing Lab · PagedAttention · Le standard de facto open source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" y="117043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" y="1170432"/>
            <a:ext cx="2880360" cy="5486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6733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Woosuk Kwon et al. (UC Berkeley), papier SOSP 2023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→ 30K stars en 6 mois — adoption massive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v0.4 (2024) : FP8, multi-LoRA serving, tensor parallelism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Hat l'adopte comme runtime LLM principal dans RHOAI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18104" y="117043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18104" y="1170432"/>
            <a:ext cx="288036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1" name="Text 9"/>
          <p:cNvSpPr/>
          <p:nvPr/>
        </p:nvSpPr>
        <p:spPr>
          <a:xfrm>
            <a:off x="3255264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55264" y="16733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PagedAttention : gestion KV cache O(1) vs O(n) classique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x10-24 vs HuggingFace Transformers naïf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Multi-LoRA : 100+ adaptateurs en mémoire simultanément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API (drop-in replacement)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44768" y="117043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44768" y="1170432"/>
            <a:ext cx="2880360" cy="54864"/>
          </a:xfrm>
          <a:prstGeom prst="rect">
            <a:avLst/>
          </a:prstGeom>
          <a:solidFill>
            <a:srgbClr val="E63030"/>
          </a:solidFill>
          <a:ln/>
        </p:spPr>
      </p:sp>
      <p:sp>
        <p:nvSpPr>
          <p:cNvPr id="15" name="Text 13"/>
          <p:cNvSpPr/>
          <p:nvPr/>
        </p:nvSpPr>
        <p:spPr>
          <a:xfrm>
            <a:off x="6281928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81928" y="16733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 intensive : modèle entier en GPU (pas CPU offload)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parallelism limité à 1 node (pas multi-node natif)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dynamique = overhead scheduling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non supporté (Linux/CUDA uniquement)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" y="267919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" y="2679192"/>
            <a:ext cx="28803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PROPRIO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" y="31821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TensorRT-LLM (perf max H100)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 serverless inference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18104" y="267919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18104" y="2679192"/>
            <a:ext cx="2880360" cy="5486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23" name="Text 21"/>
          <p:cNvSpPr/>
          <p:nvPr/>
        </p:nvSpPr>
        <p:spPr>
          <a:xfrm>
            <a:off x="3255264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OPEN SOURCE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55264" y="31821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TGI — Text Generation Inference (HuggingFace)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 (extension vLLM, multi-node — slide suivant)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LMDeploy (Shanghai AI Lab)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MLC-LLM (compilation MLIR)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44768" y="267919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44768" y="2679192"/>
            <a:ext cx="2880360" cy="54864"/>
          </a:xfrm>
          <a:prstGeom prst="rect">
            <a:avLst/>
          </a:prstGeom>
          <a:solidFill>
            <a:srgbClr val="8B9BB4"/>
          </a:solidFill>
          <a:ln/>
        </p:spPr>
      </p:sp>
      <p:sp>
        <p:nvSpPr>
          <p:cNvPr id="27" name="Text 25"/>
          <p:cNvSpPr/>
          <p:nvPr/>
        </p:nvSpPr>
        <p:spPr>
          <a:xfrm>
            <a:off x="6281928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TECHNIQUES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81928" y="31821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GPU avec Compute Capability ≥ 7.0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12.1+, PyTorch 2.3+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8-80 Go VRAM selon modèle (7B→70B)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KServe ServingRuntime CR configuré pour vLLM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A0F1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0"/>
            <a:ext cx="64008" cy="571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4617720"/>
            <a:ext cx="8869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USE CASE TELCO  </a:t>
            </a:r>
            <a:pPr indent="0" marL="0">
              <a:buNone/>
            </a:pPr>
            <a:r>
              <a:rPr lang="en-US" sz="10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sert le modèle Granite 13B quantifié INT8 — 50 tokens/sec par réplica, latence TTFT 380ms — acceptable pour NOC en attente d'analyse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64008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OpenVINO + llm-d — CPU Inference &amp; Distributed LLM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OpenVINO pour CPU/NPU · llm-d pour vLLM distribué multi-nœuds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" y="117043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" y="1170432"/>
            <a:ext cx="2880360" cy="5486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6733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OpenVINO : Intel 2018 (Open Visual Inference &amp; Neural Opt.)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OpenVINO LLM support : 2023 (INT4 CPU inference)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 : fork vLLM par Red Hat/IBM 2024 (disaggregated)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 contribué à vLLM upstream (prefill/decode split)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18104" y="117043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18104" y="1170432"/>
            <a:ext cx="288036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1" name="Text 9"/>
          <p:cNvSpPr/>
          <p:nvPr/>
        </p:nvSpPr>
        <p:spPr>
          <a:xfrm>
            <a:off x="3255264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55264" y="16733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OpenVINO : inférence LLM sur CPU x86, Arc GPU, NPU Gaudi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Intérêt telco : nodes sans GPU dédié (edge, oran-DU)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 : sépare prefill (TTFT) et decode (throughput)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 permet scale-out multi-nœuds OCP sans NVLink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44768" y="117043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44768" y="1170432"/>
            <a:ext cx="2880360" cy="54864"/>
          </a:xfrm>
          <a:prstGeom prst="rect">
            <a:avLst/>
          </a:prstGeom>
          <a:solidFill>
            <a:srgbClr val="E63030"/>
          </a:solidFill>
          <a:ln/>
        </p:spPr>
      </p:sp>
      <p:sp>
        <p:nvSpPr>
          <p:cNvPr id="15" name="Text 13"/>
          <p:cNvSpPr/>
          <p:nvPr/>
        </p:nvSpPr>
        <p:spPr>
          <a:xfrm>
            <a:off x="6281928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81928" y="16733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OpenVINO : modèles &gt; 7B = latence trop haute pour production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 : expérimental, API instable (2024)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ONNX/IR OpenVINO parfois lossy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Gaudi 2 HW rare en production (vs A100/H100)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" y="267919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" y="2679192"/>
            <a:ext cx="28803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PROPRIO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" y="31821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Gaudi AI accelerator (HW+SW bundle)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Qualcomm Cloud AI 100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18104" y="267919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18104" y="2679192"/>
            <a:ext cx="2880360" cy="5486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23" name="Text 21"/>
          <p:cNvSpPr/>
          <p:nvPr/>
        </p:nvSpPr>
        <p:spPr>
          <a:xfrm>
            <a:off x="3255264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OPEN SOURCE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55264" y="31821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 (CPU inference ultra-léger)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(developer-friendly, CPU/GPU)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MLC-LLM (mobile/edge)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44768" y="267919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44768" y="2679192"/>
            <a:ext cx="2880360" cy="54864"/>
          </a:xfrm>
          <a:prstGeom prst="rect">
            <a:avLst/>
          </a:prstGeom>
          <a:solidFill>
            <a:srgbClr val="8B9BB4"/>
          </a:solidFill>
          <a:ln/>
        </p:spPr>
      </p:sp>
      <p:sp>
        <p:nvSpPr>
          <p:cNvPr id="27" name="Text 25"/>
          <p:cNvSpPr/>
          <p:nvPr/>
        </p:nvSpPr>
        <p:spPr>
          <a:xfrm>
            <a:off x="6281928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TECHNIQUES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81928" y="31821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OpenVINO : serveur Intel 4th gen+ (Sapphire Rapids)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 : OCP 4.14+, KServe v0.13+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NFS/CephFS pour model weights partagés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25/100 GbE entre prefill et decode nodes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A0F1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0"/>
            <a:ext cx="64008" cy="571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4617720"/>
            <a:ext cx="8869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USE CASE TELCO  </a:t>
            </a:r>
            <a:pPr indent="0" marL="0">
              <a:buNone/>
            </a:pPr>
            <a:r>
              <a:rPr lang="en-US" sz="10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OpenVINO pour alertes de faible priorité sur nœuds edge RAN sans GPU — llm-d pour scaling des incidents majeurs national (P0/P1) sur cluster central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0"/>
            <a:ext cx="8961120" cy="514350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MLOps &amp; Gouvernance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· Kubeflow Pipelines · Feature Store · Model Registry · TrustyAI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pour l'IA, traçabilité expériences, gouvernance modèle en production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64008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ML Pipeline — ArgoCD + Argo Workflow + Kubeflow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as Code pour les modèles IA · CI/CD adapté aux artefacts ML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" y="117043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" y="1170432"/>
            <a:ext cx="2880360" cy="5486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6733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: Intuit 2018, CNCF graduated 2022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Workflows : orchestration DAG K8s (Argo project)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Kubeflow Pipelines v2 : DSL Python → IR YAML (2023)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RHOAI Data Science Pipelines = Kubeflow Pipelines v2 forké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18104" y="117043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18104" y="1170432"/>
            <a:ext cx="288036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1" name="Text 9"/>
          <p:cNvSpPr/>
          <p:nvPr/>
        </p:nvSpPr>
        <p:spPr>
          <a:xfrm>
            <a:off x="3255264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55264" y="16733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: sync Git repo → OCP (InferenceService, ConfigMap)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Workflows : pipeline training/eval multi-étapes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Kubeflow : experiment tracking, lineage artefacts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= reproductibilité totale (tag Git = version modèle)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44768" y="117043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44768" y="1170432"/>
            <a:ext cx="2880360" cy="54864"/>
          </a:xfrm>
          <a:prstGeom prst="rect">
            <a:avLst/>
          </a:prstGeom>
          <a:solidFill>
            <a:srgbClr val="E63030"/>
          </a:solidFill>
          <a:ln/>
        </p:spPr>
      </p:sp>
      <p:sp>
        <p:nvSpPr>
          <p:cNvPr id="15" name="Text 13"/>
          <p:cNvSpPr/>
          <p:nvPr/>
        </p:nvSpPr>
        <p:spPr>
          <a:xfrm>
            <a:off x="6281928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81928" y="16733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Kubeflow Pipelines v2 DSL : breaking changes vs v1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sync LLM weights (&gt;10 Go) = anti-pattern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scheduling temporel natif (besoin CronWorkflow)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Argo Workflows : logs fragmentés sur N pods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" y="267919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" y="2679192"/>
            <a:ext cx="28803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PROPRIO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" y="31821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ML Pipelines · SageMaker Pipelines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Asset Bundles (DAB)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&amp; Biases Launch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18104" y="267919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18104" y="2679192"/>
            <a:ext cx="2880360" cy="5486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23" name="Text 21"/>
          <p:cNvSpPr/>
          <p:nvPr/>
        </p:nvSpPr>
        <p:spPr>
          <a:xfrm>
            <a:off x="3255264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OPEN SOURCE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55264" y="31821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Metaflow (Netflix, Python-first)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ZenML (framework agnostique, portable)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Prefect / Airflow (data engineering)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44768" y="267919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44768" y="2679192"/>
            <a:ext cx="2880360" cy="54864"/>
          </a:xfrm>
          <a:prstGeom prst="rect">
            <a:avLst/>
          </a:prstGeom>
          <a:solidFill>
            <a:srgbClr val="8B9BB4"/>
          </a:solidFill>
          <a:ln/>
        </p:spPr>
      </p:sp>
      <p:sp>
        <p:nvSpPr>
          <p:cNvPr id="27" name="Text 25"/>
          <p:cNvSpPr/>
          <p:nvPr/>
        </p:nvSpPr>
        <p:spPr>
          <a:xfrm>
            <a:off x="6281928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TECHNIQUES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81928" y="31821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repo structuré (app-of-apps pattern)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S3/MinIO pour artefacts ML (pas Git LFS)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OCP strict (séparation dev/staging/prod)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GitHub/GitLab → ArgoCD ApplicationSet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A0F1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0"/>
            <a:ext cx="64008" cy="571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4617720"/>
            <a:ext cx="8869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USE CASE TELCO  </a:t>
            </a:r>
            <a:pPr indent="0" marL="0">
              <a:buNone/>
            </a:pPr>
            <a:r>
              <a:rPr lang="en-US" sz="10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GitOps : commit taxonomy → CI trigger InstructLab → ArgoCD déploie nouveau modèle en staging → tests GuideLLM → promo prod via PR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64008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Feast (Feature Store) + Model Registry (Kubeflow)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Centralisation des features ML réutilisables · Catalogue versionné des modèles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" y="117043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" y="1170432"/>
            <a:ext cx="2880360" cy="5486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6733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Feast : Go-Jek 2019 (Feature Store pour Grab), OSS 2020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Intégré RHOAI via Red Hat contribution (2023)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 Kubeflow : issu de MLMD (ML Metadata, Google)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AI Model Registry RHOAI : surcouche UI + RBAC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18104" y="117043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18104" y="1170432"/>
            <a:ext cx="288036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1" name="Text 9"/>
          <p:cNvSpPr/>
          <p:nvPr/>
        </p:nvSpPr>
        <p:spPr>
          <a:xfrm>
            <a:off x="3255264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55264" y="16733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Feast : point-in-time correct features (évite data leakage)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partagées entre data scientists (DRY)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 : versionning, tags (champion/challenger)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: qui a déployé quoi, quand, avec quel dataset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44768" y="117043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44768" y="1170432"/>
            <a:ext cx="2880360" cy="54864"/>
          </a:xfrm>
          <a:prstGeom prst="rect">
            <a:avLst/>
          </a:prstGeom>
          <a:solidFill>
            <a:srgbClr val="E63030"/>
          </a:solidFill>
          <a:ln/>
        </p:spPr>
      </p:sp>
      <p:sp>
        <p:nvSpPr>
          <p:cNvPr id="15" name="Text 13"/>
          <p:cNvSpPr/>
          <p:nvPr/>
        </p:nvSpPr>
        <p:spPr>
          <a:xfrm>
            <a:off x="6281928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81928" y="16733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Feast : complexité opérationnelle élevée (online+offline store)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store (DWH) requis pour features historiques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 RHOAI : UI minimale vs MLflow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feature monitoring natif (drift ≠ data drift)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" y="267919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" y="2679192"/>
            <a:ext cx="28803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PROPRIO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" y="31821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Feature Store (Delta intégré)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Feature Store · SageMaker Feature Store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Hopsworks (feature platform complète)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18104" y="267919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18104" y="2679192"/>
            <a:ext cx="2880360" cy="5486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23" name="Text 21"/>
          <p:cNvSpPr/>
          <p:nvPr/>
        </p:nvSpPr>
        <p:spPr>
          <a:xfrm>
            <a:off x="3255264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OPEN SOURCE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55264" y="31821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Model Registry (le plus populaire)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Tecton (SaaS feature platform)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Marquez (data lineage, non feature store)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44768" y="267919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44768" y="2679192"/>
            <a:ext cx="2880360" cy="54864"/>
          </a:xfrm>
          <a:prstGeom prst="rect">
            <a:avLst/>
          </a:prstGeom>
          <a:solidFill>
            <a:srgbClr val="8B9BB4"/>
          </a:solidFill>
          <a:ln/>
        </p:spPr>
      </p:sp>
      <p:sp>
        <p:nvSpPr>
          <p:cNvPr id="27" name="Text 25"/>
          <p:cNvSpPr/>
          <p:nvPr/>
        </p:nvSpPr>
        <p:spPr>
          <a:xfrm>
            <a:off x="6281928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TECHNIQUES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81928" y="31821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ou Redis pour online store Feast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Parquet/DeltaLake pour offline store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ou Kubeflow comme experiment tracker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registry (Quay) pour images modèles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A0F1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0"/>
            <a:ext cx="64008" cy="571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4617720"/>
            <a:ext cx="8869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USE CASE TELCO  </a:t>
            </a:r>
            <a:pPr indent="0" marL="0">
              <a:buNone/>
            </a:pPr>
            <a:r>
              <a:rPr lang="en-US" sz="10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 : features réseau pré-calculées (RSSI, handover rate, erreur CRC) partagées entre triage LLM et modèle prédictif RAN. Registry : champion Granite vs challenger Mistral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64008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TrustyAI — Bias Detector, Explainer &amp; LLM Guardrail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IA responsable · Conformité AI Act EU · Protection production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" y="117043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" y="1170432"/>
            <a:ext cx="2880360" cy="5486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6733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TrustyAI : IBM Research 2020 (Kogito AI, Drools rules)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Red Hat, intégré RHOAI 2022 (tabular)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Guardrail (Granite Guardian) ajouté 2024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Aligné AI Act EU Art. 9 (risk management) et NIST AI RMF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18104" y="117043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18104" y="1170432"/>
            <a:ext cx="288036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1" name="Text 9"/>
          <p:cNvSpPr/>
          <p:nvPr/>
        </p:nvSpPr>
        <p:spPr>
          <a:xfrm>
            <a:off x="3255264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55264" y="16733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biais statistique (SPD, DI) sur prédictions modèle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LIME/SHAP explainability sur décisions modèle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: filtre inputs/outputs LLM (prompt injection, PII)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Grafana pour monitoring drift en prod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44768" y="117043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44768" y="1170432"/>
            <a:ext cx="2880360" cy="54864"/>
          </a:xfrm>
          <a:prstGeom prst="rect">
            <a:avLst/>
          </a:prstGeom>
          <a:solidFill>
            <a:srgbClr val="E63030"/>
          </a:solidFill>
          <a:ln/>
        </p:spPr>
      </p:sp>
      <p:sp>
        <p:nvSpPr>
          <p:cNvPr id="15" name="Text 13"/>
          <p:cNvSpPr/>
          <p:nvPr/>
        </p:nvSpPr>
        <p:spPr>
          <a:xfrm>
            <a:off x="6281928" y="1261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81928" y="16733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metrics surtout pour ML tabular, LLM text moins mature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Granite Guardian guardrail = modèle de classification (latence)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monitoring concept drift natif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sur LLM = approximatif (token attribution)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" y="267919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" y="2679192"/>
            <a:ext cx="28803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PROPRIO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" y="31821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 Guardrails · Azure AI Content Safety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Fiddler AI (ML monitoring commercial)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AI (LLM monitoring)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18104" y="267919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18104" y="2679192"/>
            <a:ext cx="2880360" cy="5486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23" name="Text 21"/>
          <p:cNvSpPr/>
          <p:nvPr/>
        </p:nvSpPr>
        <p:spPr>
          <a:xfrm>
            <a:off x="3255264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OPEN SOURCE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55264" y="31821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 AI (data/model drift, OSS)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(LLM observability + eval)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Giskard (testing ML/LLM biases)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44768" y="2679192"/>
            <a:ext cx="2880360" cy="1417320"/>
          </a:xfrm>
          <a:prstGeom prst="rect">
            <a:avLst/>
          </a:prstGeom>
          <a:solidFill>
            <a:srgbClr val="1A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44768" y="2679192"/>
            <a:ext cx="2880360" cy="54864"/>
          </a:xfrm>
          <a:prstGeom prst="rect">
            <a:avLst/>
          </a:prstGeom>
          <a:solidFill>
            <a:srgbClr val="8B9BB4"/>
          </a:solidFill>
          <a:ln/>
        </p:spPr>
      </p:sp>
      <p:sp>
        <p:nvSpPr>
          <p:cNvPr id="27" name="Text 25"/>
          <p:cNvSpPr/>
          <p:nvPr/>
        </p:nvSpPr>
        <p:spPr>
          <a:xfrm>
            <a:off x="6281928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TECHNIQUES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81928" y="31821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pour métriques monitoring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 référence (baseline) pour drift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KServe annotations pour activer TrustyAI sidecar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Granite Guardian model déployé comme second InferenceService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A0F1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0"/>
            <a:ext cx="64008" cy="571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4617720"/>
            <a:ext cx="8869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USE CASE TELCO  </a:t>
            </a:r>
            <a:pPr indent="0" marL="0">
              <a:buNone/>
            </a:pPr>
            <a:r>
              <a:rPr lang="en-US" sz="10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TrustyAI surveille les biais de triage (incidents priorité 1 détectés uniformément sur tous types équipements) + Guardrail filtre les hallucinations avant réponse NOC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64008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: Architecture de Référence Telco LLM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: Triage automatique incidents 5G/RAN — Orange Production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" y="1188720"/>
            <a:ext cx="1463040" cy="640080"/>
          </a:xfrm>
          <a:prstGeom prst="rect">
            <a:avLst/>
          </a:prstGeom>
          <a:solidFill>
            <a:srgbClr val="1A2A3F"/>
          </a:solidFill>
          <a:ln w="25400">
            <a:solidFill>
              <a:srgbClr val="00B9C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" y="11887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Nokia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OSS/ENM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563624" y="1463040"/>
            <a:ext cx="256032" cy="91440"/>
          </a:xfrm>
          <a:prstGeom prst="rect">
            <a:avLst/>
          </a:prstGeom>
          <a:solidFill>
            <a:srgbClr val="8B9BB4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1188720"/>
            <a:ext cx="1463040" cy="640080"/>
          </a:xfrm>
          <a:prstGeom prst="rect">
            <a:avLst/>
          </a:prstGeom>
          <a:solidFill>
            <a:srgbClr val="1A2A3F"/>
          </a:solidFill>
          <a:ln w="25400">
            <a:solidFill>
              <a:srgbClr val="2ECC7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0" y="11887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00984" y="1463040"/>
            <a:ext cx="256032" cy="91440"/>
          </a:xfrm>
          <a:prstGeom prst="rect">
            <a:avLst/>
          </a:prstGeom>
          <a:solidFill>
            <a:srgbClr val="8B9BB4"/>
          </a:solidFill>
          <a:ln/>
        </p:spPr>
      </p:sp>
      <p:sp>
        <p:nvSpPr>
          <p:cNvPr id="11" name="Shape 9"/>
          <p:cNvSpPr/>
          <p:nvPr/>
        </p:nvSpPr>
        <p:spPr>
          <a:xfrm>
            <a:off x="3566160" y="1188720"/>
            <a:ext cx="1463040" cy="640080"/>
          </a:xfrm>
          <a:prstGeom prst="rect">
            <a:avLst/>
          </a:prstGeom>
          <a:solidFill>
            <a:srgbClr val="1A2A3F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66160" y="11887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InstructLab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38344" y="1463040"/>
            <a:ext cx="256032" cy="91440"/>
          </a:xfrm>
          <a:prstGeom prst="rect">
            <a:avLst/>
          </a:prstGeom>
          <a:solidFill>
            <a:srgbClr val="8B9BB4"/>
          </a:solidFill>
          <a:ln/>
        </p:spPr>
      </p:sp>
      <p:sp>
        <p:nvSpPr>
          <p:cNvPr id="14" name="Shape 12"/>
          <p:cNvSpPr/>
          <p:nvPr/>
        </p:nvSpPr>
        <p:spPr>
          <a:xfrm>
            <a:off x="5303520" y="1188720"/>
            <a:ext cx="1463040" cy="640080"/>
          </a:xfrm>
          <a:prstGeom prst="rect">
            <a:avLst/>
          </a:prstGeom>
          <a:solidFill>
            <a:srgbClr val="1A2A3F"/>
          </a:solidFill>
          <a:ln w="25400">
            <a:solidFill>
              <a:srgbClr val="E6303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03520" y="11887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llm-compressor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6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Quant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75704" y="1463040"/>
            <a:ext cx="256032" cy="91440"/>
          </a:xfrm>
          <a:prstGeom prst="rect">
            <a:avLst/>
          </a:prstGeom>
          <a:solidFill>
            <a:srgbClr val="8B9BB4"/>
          </a:solidFill>
          <a:ln/>
        </p:spPr>
      </p:sp>
      <p:sp>
        <p:nvSpPr>
          <p:cNvPr id="17" name="Shape 15"/>
          <p:cNvSpPr/>
          <p:nvPr/>
        </p:nvSpPr>
        <p:spPr>
          <a:xfrm>
            <a:off x="7040880" y="1188720"/>
            <a:ext cx="1463040" cy="640080"/>
          </a:xfrm>
          <a:prstGeom prst="rect">
            <a:avLst/>
          </a:prstGeom>
          <a:solidFill>
            <a:srgbClr val="1A2A3F"/>
          </a:solidFill>
          <a:ln w="25400">
            <a:solidFill>
              <a:srgbClr val="00B9C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40880" y="11887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+ KServe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1440" y="2103120"/>
            <a:ext cx="1691640" cy="1005840"/>
          </a:xfrm>
          <a:prstGeom prst="rect">
            <a:avLst/>
          </a:prstGeom>
          <a:solidFill>
            <a:srgbClr val="0A0F1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" y="21488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tickets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" y="257860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" y="278892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+ Ericsson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892808" y="2103120"/>
            <a:ext cx="1691640" cy="1005840"/>
          </a:xfrm>
          <a:prstGeom prst="rect">
            <a:avLst/>
          </a:prstGeom>
          <a:solidFill>
            <a:srgbClr val="0A0F1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892808" y="21488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Granite 3.1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892808" y="257860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92808" y="278892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13B → INT8 6.5B eq.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94176" y="2103120"/>
            <a:ext cx="1691640" cy="1005840"/>
          </a:xfrm>
          <a:prstGeom prst="rect">
            <a:avLst/>
          </a:prstGeom>
          <a:solidFill>
            <a:srgbClr val="0A0F1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94176" y="21488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380ms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694176" y="257860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TTFT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94176" y="278892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sur A100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495544" y="2103120"/>
            <a:ext cx="1691640" cy="1005840"/>
          </a:xfrm>
          <a:prstGeom prst="rect">
            <a:avLst/>
          </a:prstGeom>
          <a:solidFill>
            <a:srgbClr val="0A0F1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95544" y="21488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92.4%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95544" y="257860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triage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95544" y="278892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baseline 67% règles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296912" y="2103120"/>
            <a:ext cx="1691640" cy="1005840"/>
          </a:xfrm>
          <a:prstGeom prst="rect">
            <a:avLst/>
          </a:prstGeom>
          <a:solidFill>
            <a:srgbClr val="0A0F1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296912" y="21488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nœuds GPU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296912" y="257860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296912" y="278892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A100 40Go bare-metal OCP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1440" y="3200400"/>
            <a:ext cx="896112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9C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288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infra OCP bare-metal 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82880" y="3547872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Operator · NFD · KServe + Service Mesh · Cert-Manager · KEDA · MinIO/Ceph · ArgoCD · Prometheus/Grafana · RBAC ANSSI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A0F1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4572000"/>
            <a:ext cx="64008" cy="571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4" name="Text 42"/>
          <p:cNvSpPr/>
          <p:nvPr/>
        </p:nvSpPr>
        <p:spPr>
          <a:xfrm>
            <a:off x="182880" y="4617720"/>
            <a:ext cx="8869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USE CASE TELCO  </a:t>
            </a:r>
            <a:pPr indent="0" marL="0">
              <a:buNone/>
            </a:pPr>
            <a:r>
              <a:rPr lang="en-US" sz="10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estimé : -40% MTTR incidents P1/P2 · Économie 3 FTE niveau 1 NOC · Déploiement 6 mois (MVP → production)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" cy="548640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0584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" y="10332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Commencer par Docling + JupyterLab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28930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 : prototype RAG sur tickets existants avant tout fine-tuning. Valide le corpus en 2 semaines.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773936"/>
            <a:ext cx="411480" cy="5486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773936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1801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InstructLab avant LoRA classique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20574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génération synthétique taxonomy réduit le coût annotation ×10. Indispensable avec peu d'experts domaine.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542032"/>
            <a:ext cx="411480" cy="5486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542032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" y="25694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natif, OpenVINO pour edge seulement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" y="282549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GPU bare-metal OCP, vLLM domine. OpenVINO réservé aux nœuds RAN edge sans GPU dédié.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310128"/>
            <a:ext cx="411480" cy="548640"/>
          </a:xfrm>
          <a:prstGeom prst="rect">
            <a:avLst/>
          </a:prstGeom>
          <a:solidFill>
            <a:srgbClr val="E63030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310128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" y="3337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dès le début (ArgoCD + Registry)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" y="359359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 MLOps = reproductibilité. Un modèle non versionné en GitOps n'est pas production-grade.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078224"/>
            <a:ext cx="411480" cy="548640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078224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" y="41056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TrustyAI non négociable (AI Act EU 2025)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" y="436168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et guardrail obligatoires pour systèmes IA telco classés 'high risk'. Auditable dès le départ.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754880"/>
            <a:ext cx="8686800" cy="45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82803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taoufikbouazza.substack.com · Orange DT/DTR · Architecture CaaS Telco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0"/>
            <a:ext cx="8961120" cy="514350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Journey Business — Roadmap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zéro à la production : 6 phases, 9 mois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brique, chaque rôle, chaque livrable — pour un opérateur telco déployant un LLM de triage incidents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64008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Globale — 6 Phases · 9 Mois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synthétique du parcours complet use case LLM Telco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877824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1325880"/>
            <a:ext cx="1389888" cy="1371600"/>
          </a:xfrm>
          <a:prstGeom prst="rect">
            <a:avLst/>
          </a:prstGeom>
          <a:solidFill>
            <a:srgbClr val="1A2A3F"/>
          </a:solidFill>
          <a:ln w="25400">
            <a:solidFill>
              <a:srgbClr val="00B9C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325880"/>
            <a:ext cx="1389888" cy="64008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078992"/>
            <a:ext cx="384048" cy="384048"/>
          </a:xfrm>
          <a:prstGeom prst="rect">
            <a:avLst/>
          </a:prstGeom>
          <a:solidFill>
            <a:srgbClr val="00B9CE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078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" y="1389888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Corpus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" y="2029968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S1–S4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572768" y="1984248"/>
            <a:ext cx="73152" cy="91440"/>
          </a:xfrm>
          <a:prstGeom prst="rect">
            <a:avLst/>
          </a:prstGeom>
          <a:solidFill>
            <a:srgbClr val="8B9BB4"/>
          </a:solidFill>
          <a:ln/>
        </p:spPr>
      </p:sp>
      <p:sp>
        <p:nvSpPr>
          <p:cNvPr id="13" name="Shape 11"/>
          <p:cNvSpPr/>
          <p:nvPr/>
        </p:nvSpPr>
        <p:spPr>
          <a:xfrm>
            <a:off x="1664208" y="1325880"/>
            <a:ext cx="1389888" cy="1371600"/>
          </a:xfrm>
          <a:prstGeom prst="rect">
            <a:avLst/>
          </a:prstGeom>
          <a:solidFill>
            <a:srgbClr val="1A2A3F"/>
          </a:solidFill>
          <a:ln w="25400">
            <a:solidFill>
              <a:srgbClr val="2ECC7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664208" y="1325880"/>
            <a:ext cx="1389888" cy="6400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5" name="Shape 13"/>
          <p:cNvSpPr/>
          <p:nvPr/>
        </p:nvSpPr>
        <p:spPr>
          <a:xfrm>
            <a:off x="2167128" y="1078992"/>
            <a:ext cx="384048" cy="384048"/>
          </a:xfrm>
          <a:prstGeom prst="rect">
            <a:avLst/>
          </a:prstGeom>
          <a:solidFill>
            <a:srgbClr val="2ECC71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167128" y="1078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09928" y="1389888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Features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09928" y="2029968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S5–S8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054096" y="1984248"/>
            <a:ext cx="73152" cy="91440"/>
          </a:xfrm>
          <a:prstGeom prst="rect">
            <a:avLst/>
          </a:prstGeom>
          <a:solidFill>
            <a:srgbClr val="8B9BB4"/>
          </a:solidFill>
          <a:ln/>
        </p:spPr>
      </p:sp>
      <p:sp>
        <p:nvSpPr>
          <p:cNvPr id="20" name="Shape 18"/>
          <p:cNvSpPr/>
          <p:nvPr/>
        </p:nvSpPr>
        <p:spPr>
          <a:xfrm>
            <a:off x="3145536" y="1325880"/>
            <a:ext cx="1389888" cy="1371600"/>
          </a:xfrm>
          <a:prstGeom prst="rect">
            <a:avLst/>
          </a:prstGeom>
          <a:solidFill>
            <a:srgbClr val="1A2A3F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45536" y="1325880"/>
            <a:ext cx="1389888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3648456" y="1078992"/>
            <a:ext cx="384048" cy="384048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48456" y="1078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91256" y="1389888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Training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91256" y="2029968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S9–S16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35424" y="1984248"/>
            <a:ext cx="73152" cy="91440"/>
          </a:xfrm>
          <a:prstGeom prst="rect">
            <a:avLst/>
          </a:prstGeom>
          <a:solidFill>
            <a:srgbClr val="8B9BB4"/>
          </a:solidFill>
          <a:ln/>
        </p:spPr>
      </p:sp>
      <p:sp>
        <p:nvSpPr>
          <p:cNvPr id="27" name="Shape 25"/>
          <p:cNvSpPr/>
          <p:nvPr/>
        </p:nvSpPr>
        <p:spPr>
          <a:xfrm>
            <a:off x="4626864" y="1325880"/>
            <a:ext cx="1389888" cy="1371600"/>
          </a:xfrm>
          <a:prstGeom prst="rect">
            <a:avLst/>
          </a:prstGeom>
          <a:solidFill>
            <a:srgbClr val="1A2A3F"/>
          </a:solidFill>
          <a:ln w="25400">
            <a:solidFill>
              <a:srgbClr val="E6303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26864" y="1325880"/>
            <a:ext cx="1389888" cy="64008"/>
          </a:xfrm>
          <a:prstGeom prst="rect">
            <a:avLst/>
          </a:prstGeom>
          <a:solidFill>
            <a:srgbClr val="E63030"/>
          </a:solidFill>
          <a:ln/>
        </p:spPr>
      </p:sp>
      <p:sp>
        <p:nvSpPr>
          <p:cNvPr id="29" name="Shape 27"/>
          <p:cNvSpPr/>
          <p:nvPr/>
        </p:nvSpPr>
        <p:spPr>
          <a:xfrm>
            <a:off x="5129784" y="1078992"/>
            <a:ext cx="384048" cy="384048"/>
          </a:xfrm>
          <a:prstGeom prst="rect">
            <a:avLst/>
          </a:prstGeom>
          <a:solidFill>
            <a:srgbClr val="E6303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129784" y="1078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72584" y="1389888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6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Eval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72584" y="2029968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S17–S20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16752" y="1984248"/>
            <a:ext cx="73152" cy="91440"/>
          </a:xfrm>
          <a:prstGeom prst="rect">
            <a:avLst/>
          </a:prstGeom>
          <a:solidFill>
            <a:srgbClr val="8B9BB4"/>
          </a:solidFill>
          <a:ln/>
        </p:spPr>
      </p:sp>
      <p:sp>
        <p:nvSpPr>
          <p:cNvPr id="34" name="Shape 32"/>
          <p:cNvSpPr/>
          <p:nvPr/>
        </p:nvSpPr>
        <p:spPr>
          <a:xfrm>
            <a:off x="6108192" y="1325880"/>
            <a:ext cx="1389888" cy="1371600"/>
          </a:xfrm>
          <a:prstGeom prst="rect">
            <a:avLst/>
          </a:prstGeom>
          <a:solidFill>
            <a:srgbClr val="1A2A3F"/>
          </a:solidFill>
          <a:ln w="25400">
            <a:solidFill>
              <a:srgbClr val="00B9C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08192" y="1325880"/>
            <a:ext cx="1389888" cy="64008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36" name="Shape 34"/>
          <p:cNvSpPr/>
          <p:nvPr/>
        </p:nvSpPr>
        <p:spPr>
          <a:xfrm>
            <a:off x="6611112" y="1078992"/>
            <a:ext cx="384048" cy="384048"/>
          </a:xfrm>
          <a:prstGeom prst="rect">
            <a:avLst/>
          </a:prstGeom>
          <a:solidFill>
            <a:srgbClr val="00B9CE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611112" y="1078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53912" y="1389888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53912" y="2029968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S21–S28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498080" y="1984248"/>
            <a:ext cx="73152" cy="91440"/>
          </a:xfrm>
          <a:prstGeom prst="rect">
            <a:avLst/>
          </a:prstGeom>
          <a:solidFill>
            <a:srgbClr val="8B9BB4"/>
          </a:solidFill>
          <a:ln/>
        </p:spPr>
      </p:sp>
      <p:sp>
        <p:nvSpPr>
          <p:cNvPr id="41" name="Shape 39"/>
          <p:cNvSpPr/>
          <p:nvPr/>
        </p:nvSpPr>
        <p:spPr>
          <a:xfrm>
            <a:off x="7589520" y="1325880"/>
            <a:ext cx="1389888" cy="1371600"/>
          </a:xfrm>
          <a:prstGeom prst="rect">
            <a:avLst/>
          </a:prstGeom>
          <a:solidFill>
            <a:srgbClr val="1A2A3F"/>
          </a:solidFill>
          <a:ln w="25400">
            <a:solidFill>
              <a:srgbClr val="2ECC7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589520" y="1325880"/>
            <a:ext cx="1389888" cy="6400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3" name="Shape 41"/>
          <p:cNvSpPr/>
          <p:nvPr/>
        </p:nvSpPr>
        <p:spPr>
          <a:xfrm>
            <a:off x="8092440" y="1078992"/>
            <a:ext cx="384048" cy="384048"/>
          </a:xfrm>
          <a:prstGeom prst="rect">
            <a:avLst/>
          </a:prstGeom>
          <a:solidFill>
            <a:srgbClr val="2ECC71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092440" y="1078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635240" y="1389888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Gouvernance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35240" y="2029968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S29–S36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82880" y="28346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82880" y="2834640"/>
            <a:ext cx="8778240" cy="3657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9" name="Shape 47"/>
          <p:cNvSpPr/>
          <p:nvPr/>
        </p:nvSpPr>
        <p:spPr>
          <a:xfrm>
            <a:off x="228600" y="2926080"/>
            <a:ext cx="1298448" cy="960120"/>
          </a:xfrm>
          <a:prstGeom prst="rect">
            <a:avLst/>
          </a:prstGeom>
          <a:solidFill>
            <a:srgbClr val="0A0F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8600" y="2926080"/>
            <a:ext cx="12984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tickets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709928" y="2926080"/>
            <a:ext cx="1298448" cy="960120"/>
          </a:xfrm>
          <a:prstGeom prst="rect">
            <a:avLst/>
          </a:prstGeom>
          <a:solidFill>
            <a:srgbClr val="0A0F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709928" y="2926080"/>
            <a:ext cx="12984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Dataset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labellisé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191256" y="2926080"/>
            <a:ext cx="1298448" cy="960120"/>
          </a:xfrm>
          <a:prstGeom prst="rect">
            <a:avLst/>
          </a:prstGeom>
          <a:solidFill>
            <a:srgbClr val="0A0F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91256" y="2926080"/>
            <a:ext cx="12984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fine-tuné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checkpoints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672584" y="2926080"/>
            <a:ext cx="1298448" cy="960120"/>
          </a:xfrm>
          <a:prstGeom prst="rect">
            <a:avLst/>
          </a:prstGeom>
          <a:solidFill>
            <a:srgbClr val="0A0F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72584" y="2926080"/>
            <a:ext cx="12984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quantifié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benchmarks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153912" y="2926080"/>
            <a:ext cx="1298448" cy="960120"/>
          </a:xfrm>
          <a:prstGeom prst="rect">
            <a:avLst/>
          </a:prstGeom>
          <a:solidFill>
            <a:srgbClr val="0A0F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53912" y="2926080"/>
            <a:ext cx="12984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LLM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KServe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monitoring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635240" y="2926080"/>
            <a:ext cx="1298448" cy="960120"/>
          </a:xfrm>
          <a:prstGeom prst="rect">
            <a:avLst/>
          </a:prstGeom>
          <a:solidFill>
            <a:srgbClr val="0A0F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35240" y="2926080"/>
            <a:ext cx="12984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rapports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82880" y="3977640"/>
            <a:ext cx="877824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4023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JALONS ROI  </a:t>
            </a:r>
            <a:pPr indent="0" marL="0">
              <a:buNone/>
            </a:pPr>
            <a:r>
              <a:rPr lang="en-US" sz="10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 : POC validé par NOC  ·  </a:t>
            </a:r>
            <a:pPr indent="0" marL="0">
              <a:buNone/>
            </a:pPr>
            <a:r>
              <a:rPr lang="en-US" sz="10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S20 : Go/No-go CODIR  ·  </a:t>
            </a:r>
            <a:pPr indent="0" marL="0">
              <a:buNone/>
            </a:pPr>
            <a:r>
              <a:rPr lang="en-US" sz="10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S28 : Mise en production  ·  </a:t>
            </a:r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S36 : -40% MTTR mesuré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74320" y="437083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indicatif : 4 GPU A100 (bare-metal existant) · 2 FTE Data Science · 1 FTE MLOps · 1 FTE Architecture · 6 mois MVP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64008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Discovery &amp; Corpus  [ S1–S4 ]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Brique : Docling · Objectif : constituer le dataset de fine-tuning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046720" y="182880"/>
            <a:ext cx="960120" cy="457200"/>
          </a:xfrm>
          <a:prstGeom prst="rect">
            <a:avLst/>
          </a:prstGeom>
          <a:solidFill>
            <a:srgbClr val="00B9CE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0" y="18288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" y="1170432"/>
            <a:ext cx="2926080" cy="3291840"/>
          </a:xfrm>
          <a:prstGeom prst="rect">
            <a:avLst/>
          </a:prstGeom>
          <a:solidFill>
            <a:srgbClr val="1A2A3F"/>
          </a:solidFill>
          <a:ln w="19050">
            <a:solidFill>
              <a:srgbClr val="00B9C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" y="1170432"/>
            <a:ext cx="2926080" cy="64008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" y="12070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" y="1581912"/>
            <a:ext cx="272491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Inventorier les sources : tickets Nokia OSS, MOP PDF, logs Ericsson ENM, runbooks Word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le schéma de labellisation (priorité, type incident, équipement, root cause)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Docling sur le corpus brut (batch Kubernetes Job sur namespace data-eng)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la qualité du chunking (échantillon 500 tickets, revue manuelle SME NOC)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Constituer le dataset annoté (format JSONL InstructLab-compatible)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Stocker sur MinIO avec versionning (bucket corpus/v1/)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le data lineage dans Kubeflow MLMD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08960" y="1170432"/>
            <a:ext cx="2926080" cy="3291840"/>
          </a:xfrm>
          <a:prstGeom prst="rect">
            <a:avLst/>
          </a:prstGeom>
          <a:solidFill>
            <a:srgbClr val="1A2A3F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1170432"/>
            <a:ext cx="292608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3218688" y="12070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&amp; COMPÉTENCES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18688" y="1581912"/>
            <a:ext cx="272491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 — Python, pipeline Docling, MinIO/S3, Kubernetes Jobs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NOC — connaissance tickets, labellisation métier, validation contenu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Engineer — configuration PVC, namespace, stockage S3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 IA — définition schéma, stratégie chunking et labellisation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IA — critères qualité corpus, priorisation sources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170432"/>
            <a:ext cx="2926080" cy="3291840"/>
          </a:xfrm>
          <a:prstGeom prst="rect">
            <a:avLst/>
          </a:prstGeom>
          <a:solidFill>
            <a:srgbClr val="1A2A3F"/>
          </a:solidFill>
          <a:ln w="19050">
            <a:solidFill>
              <a:srgbClr val="2ECC7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170432"/>
            <a:ext cx="2926080" cy="6400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7" name="Text 15"/>
          <p:cNvSpPr/>
          <p:nvPr/>
        </p:nvSpPr>
        <p:spPr>
          <a:xfrm>
            <a:off x="6236208" y="12070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&amp; EXIT CRITERIA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36208" y="1581912"/>
            <a:ext cx="272491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50 000 tickets parsés et structurés (Markdown + JSON)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annoté 5 000 tickets (train/eval/test 80/10/10)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InstructLab v1 (domaine telco 5G, 15 catégories d'incidents)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qualité : couverture champs &gt; 95%, cohérence labels &gt; 92%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Go P2 : dataset validé par SME NOC · Data lineage enregistré MLMD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A0F1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572000"/>
            <a:ext cx="64008" cy="571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" y="4617720"/>
            <a:ext cx="8869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USE CASE TELCO  </a:t>
            </a:r>
            <a:pPr indent="0" marL="0">
              <a:buNone/>
            </a:pPr>
            <a:r>
              <a:rPr lang="en-US" sz="10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: Accès Nokia OSS/ENM accordé · S2-3 : Docling batch sur 50K tickets · S4 : Dataset annoté validé par équipe NOC Roissy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64008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Data Prep &amp; Feature Engineering  [ S5–S8 ]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Briques : JupyterLab · Feast Feature Store · Kubeflow Experiment Tracking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046720" y="182880"/>
            <a:ext cx="960120" cy="457200"/>
          </a:xfrm>
          <a:prstGeom prst="rect">
            <a:avLst/>
          </a:prstGeom>
          <a:solidFill>
            <a:srgbClr val="2ECC71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0" y="18288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" y="1170432"/>
            <a:ext cx="2926080" cy="3291840"/>
          </a:xfrm>
          <a:prstGeom prst="rect">
            <a:avLst/>
          </a:prstGeom>
          <a:solidFill>
            <a:srgbClr val="1A2A3F"/>
          </a:solidFill>
          <a:ln w="19050">
            <a:solidFill>
              <a:srgbClr val="00B9C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" y="1170432"/>
            <a:ext cx="2926080" cy="64008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" y="12070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" y="1581912"/>
            <a:ext cx="272491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EDA dans JupyterLab (distribution incidents, déséquilibre classes — 34% congestion RAN)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features réseau : RSSI, handover rate, taux erreur CRC, disponibilité cellule par secteur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 features dans Feast (offline store Parquet S3, online store Redis)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: SMOTE sur classes incidents rares (&lt; 200 exemples)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dataset dans Kubeflow MLMD (metadata, lineage complet)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pipeline Argo Workflow reproductible (end-to-end test &lt; 30 min)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Random Forest : 78% précision (référence pour justifier LLM)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08960" y="1170432"/>
            <a:ext cx="2926080" cy="3291840"/>
          </a:xfrm>
          <a:prstGeom prst="rect">
            <a:avLst/>
          </a:prstGeom>
          <a:solidFill>
            <a:srgbClr val="1A2A3F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1170432"/>
            <a:ext cx="292608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3218688" y="12070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&amp; COMPÉTENCES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18688" y="1581912"/>
            <a:ext cx="272491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 — EDA, sklearn, feature engineering telco, SMOTE, visualisation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 — Feast config, Redis/Parquet pipeline ETL, orchestration Argo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Réseau 5G — validation sémantique des features RAN (RSSI, CRC, handover)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— Kubeflow Experiment Tracking, pipeline CI Argo Workflow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 Data — schéma Feature Store, stratégie online/offline split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170432"/>
            <a:ext cx="2926080" cy="3291840"/>
          </a:xfrm>
          <a:prstGeom prst="rect">
            <a:avLst/>
          </a:prstGeom>
          <a:solidFill>
            <a:srgbClr val="1A2A3F"/>
          </a:solidFill>
          <a:ln w="19050">
            <a:solidFill>
              <a:srgbClr val="2ECC7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170432"/>
            <a:ext cx="2926080" cy="6400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7" name="Text 15"/>
          <p:cNvSpPr/>
          <p:nvPr/>
        </p:nvSpPr>
        <p:spPr>
          <a:xfrm>
            <a:off x="6236208" y="12070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&amp; EXIT CRITERIA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36208" y="1581912"/>
            <a:ext cx="272491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 Feast peuplé (12 features réseau + 3 features ticket contextuelles)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final équilibré (8 classes incidents, min 500 exemples/classe)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Argo Workflow reproductible (2 runs identiques, delta &lt; 0.1%)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documentée : Random Forest 78% précision (référence décision Go LLM)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Go P3 : dataset validé, pipeline CI vert, baseline approuvée PO IA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A0F1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572000"/>
            <a:ext cx="64008" cy="571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" y="4617720"/>
            <a:ext cx="8869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USE CASE TELCO  </a:t>
            </a:r>
            <a:pPr indent="0" marL="0">
              <a:buNone/>
            </a:pPr>
            <a:r>
              <a:rPr lang="en-US" sz="10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S5-6 : EDA — 34% congestion RAN dominant · S7 : Feast déployé · S8 : POC validé NOC — décision Go LLM vs baseline 78% confirmée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64008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Fine-tuning &amp; Distributed Training  [ S9–S16 ]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Briques : InstructLab · Ray + Kubeflow Training Operator · Model Registry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046720" y="182880"/>
            <a:ext cx="960120" cy="45720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0" y="18288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" y="1170432"/>
            <a:ext cx="2926080" cy="3291840"/>
          </a:xfrm>
          <a:prstGeom prst="rect">
            <a:avLst/>
          </a:prstGeom>
          <a:solidFill>
            <a:srgbClr val="1A2A3F"/>
          </a:solidFill>
          <a:ln w="19050">
            <a:solidFill>
              <a:srgbClr val="00B9C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" y="1170432"/>
            <a:ext cx="2926080" cy="64008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" y="12070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" y="1581912"/>
            <a:ext cx="272491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la taxonomy InstructLab v2 (500 seeds Q&amp;A annotées par SME NOC, 15 catégories)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données synthétiques : ilab generate (×10 seeds = 5 000 exemples synthétiques)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fine-tuning Granite 3.1 13B via PyTorchJob Kubeflow (4 × A100, FSDP)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training Ray + CodeFlare sur 8 GPUs (sharding FSDP 2 nœuds)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Ray Tune (lr, batch size, warmup steps — 12 trials)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Enregistrer meilleur checkpoint Model Registry (tag : challenger-v1, eval-ready)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: chaque run = commit Git + artifact S3 (reproductibilité totale)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08960" y="1170432"/>
            <a:ext cx="2926080" cy="3291840"/>
          </a:xfrm>
          <a:prstGeom prst="rect">
            <a:avLst/>
          </a:prstGeom>
          <a:solidFill>
            <a:srgbClr val="1A2A3F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1170432"/>
            <a:ext cx="292608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3218688" y="12070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&amp; COMPÉTENCES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18688" y="1581912"/>
            <a:ext cx="272491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 — InstructLab taxonomy, PyTorch FSDP, LoRA/QLoRA, loss analysis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— Kubeflow Training Operator, Ray on OCP, CodeFlare Operator, S3 checkpoints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 GPU — NUMA topology, NVLink, GPU scheduling OCP NodeAffinity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NOC — validation qualitative outputs modèle sur cas réels tirés au sort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 — analyse loss curves, détection overfitting, ablation study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DevOps/GitOps — ArgoCD pipeline training, versioning checkpoints, reproductibilité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170432"/>
            <a:ext cx="2926080" cy="3291840"/>
          </a:xfrm>
          <a:prstGeom prst="rect">
            <a:avLst/>
          </a:prstGeom>
          <a:solidFill>
            <a:srgbClr val="1A2A3F"/>
          </a:solidFill>
          <a:ln w="19050">
            <a:solidFill>
              <a:srgbClr val="2ECC7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170432"/>
            <a:ext cx="2926080" cy="6400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7" name="Text 15"/>
          <p:cNvSpPr/>
          <p:nvPr/>
        </p:nvSpPr>
        <p:spPr>
          <a:xfrm>
            <a:off x="6236208" y="12070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&amp; EXIT CRITERIA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36208" y="1581912"/>
            <a:ext cx="272491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InstructLab v2 validée (500 seeds + 5K synthétiques, diversité vérifiée)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challenger-v1 enregistré (Model Registry, lineage dataset complet)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curve convergée (validation loss &lt; 0.35 à epoch 5, pas d'overfitting)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eval interne : 88%+ sur dataset de test annoté (objectif 90%+)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Go P4 : checkpoint reproductible × 2 runs identiques · SME NOC 85% satisfaction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A0F1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572000"/>
            <a:ext cx="64008" cy="571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" y="4617720"/>
            <a:ext cx="8869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USE CASE TELCO  </a:t>
            </a:r>
            <a:pPr indent="0" marL="0">
              <a:buNone/>
            </a:pPr>
            <a:r>
              <a:rPr lang="en-US" sz="10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S9-12 : 3 itérations fine-tuning · S13 : Ray Tune — lr optimal 2e-5 détecté · S16 : challenger-v1 à 91.2% — Go P4 validé CODIR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64008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Optimisation &amp; Évaluation  [ S17–S20 ]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Briques : llm-compressor · GuideLLM · TrustyAI LLM-Eval · AI Act Compliance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046720" y="182880"/>
            <a:ext cx="960120" cy="457200"/>
          </a:xfrm>
          <a:prstGeom prst="rect">
            <a:avLst/>
          </a:prstGeom>
          <a:solidFill>
            <a:srgbClr val="E6303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0" y="18288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" y="1170432"/>
            <a:ext cx="2926080" cy="3291840"/>
          </a:xfrm>
          <a:prstGeom prst="rect">
            <a:avLst/>
          </a:prstGeom>
          <a:solidFill>
            <a:srgbClr val="1A2A3F"/>
          </a:solidFill>
          <a:ln w="19050">
            <a:solidFill>
              <a:srgbClr val="00B9C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" y="1170432"/>
            <a:ext cx="2926080" cy="64008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" y="12070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" y="1581912"/>
            <a:ext cx="272491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INT8 llm-compressor (calibration sur 500 tickets représentatifs domaine)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FP16 vs INT8 : perte qualité &lt; 1.5% — seuil acceptable validé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GuideLLM : TTFT, throughput tok/s, P99 latency (100 req/min NOC simulé)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qualité TrustyAI LLM-Eval (précision top-3, recall par classe incident)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biais TrustyAI : équité détection Nokia vs Ericsson (SPD &lt; 3% requis)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Rédaction rapport conformité AI Act EU v1 (documentation risque système IA)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Champion-v1 INT8 enregistré Model Registry avec rapport biais annexé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08960" y="1170432"/>
            <a:ext cx="2926080" cy="3291840"/>
          </a:xfrm>
          <a:prstGeom prst="rect">
            <a:avLst/>
          </a:prstGeom>
          <a:solidFill>
            <a:srgbClr val="1A2A3F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1170432"/>
            <a:ext cx="292608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3218688" y="12070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&amp; COMPÉTENCES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18688" y="1581912"/>
            <a:ext cx="272491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 — llm-compressor, quantization calibration, analyse dégradation qualité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Engineer — GuideLLM, Locust, analyse P99/SLO, sizing GPU prod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Lead — TrustyAI, AI Act EU Art. 9, NIST AI RMF, liaison DPO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NOC — validation qualitative outputs quantifiés (tests blindés vendor-agnostic)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 — définition SLO production (TTFT &lt; 500ms, uptime 99.5%)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170432"/>
            <a:ext cx="2926080" cy="3291840"/>
          </a:xfrm>
          <a:prstGeom prst="rect">
            <a:avLst/>
          </a:prstGeom>
          <a:solidFill>
            <a:srgbClr val="1A2A3F"/>
          </a:solidFill>
          <a:ln w="19050">
            <a:solidFill>
              <a:srgbClr val="2ECC7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170432"/>
            <a:ext cx="2926080" cy="6400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7" name="Text 15"/>
          <p:cNvSpPr/>
          <p:nvPr/>
        </p:nvSpPr>
        <p:spPr>
          <a:xfrm>
            <a:off x="6236208" y="12070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&amp; EXIT CRITERIA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36208" y="1581912"/>
            <a:ext cx="272491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champion-v1 INT8 quantifié (6.5 Go VRAM vs 13 Go FP16 — gain 48%)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GuideLLM prod-like : TTFT P99 = 380ms, throughput 52 tok/s @100 rpm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TrustyAI : biais Nokia/Ericsson SPD = 2.1% — conforme seuil 3%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conformité AI Act EU v1 signé DPO + RSSI Orange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Go P5 : SLO validés, biais conformes, approbation RSSI · Go/No-go CODIR S20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A0F1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572000"/>
            <a:ext cx="64008" cy="571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" y="4617720"/>
            <a:ext cx="8869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USE CASE TELCO  </a:t>
            </a:r>
            <a:pPr indent="0" marL="0">
              <a:buNone/>
            </a:pPr>
            <a:r>
              <a:rPr lang="en-US" sz="10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S17 : Quantization INT8 — gain 48% VRAM · S18-19 : 3 rounds GuideLLM charge NOC simulée · S20 : Go/No-go CODIR approuvé — RSSI signé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64008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Déploiement Production  [ S21–S28 ]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Briques : KServe · vLLM · ArgoCD GitOps · KEDA · Prometheus/Grafana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046720" y="182880"/>
            <a:ext cx="960120" cy="457200"/>
          </a:xfrm>
          <a:prstGeom prst="rect">
            <a:avLst/>
          </a:prstGeom>
          <a:solidFill>
            <a:srgbClr val="00B9CE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0" y="18288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" y="1170432"/>
            <a:ext cx="2926080" cy="3291840"/>
          </a:xfrm>
          <a:prstGeom prst="rect">
            <a:avLst/>
          </a:prstGeom>
          <a:solidFill>
            <a:srgbClr val="1A2A3F"/>
          </a:solidFill>
          <a:ln w="19050">
            <a:solidFill>
              <a:srgbClr val="00B9C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" y="1170432"/>
            <a:ext cx="2926080" cy="64008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" y="12070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" y="1581912"/>
            <a:ext cx="272491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ServingRuntime KServe pour vLLM (InferenceService YAML, mTLS cert-manager)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Configurer KEDA autoscaler (scale 1→4 réplicas GPU sur custom metric queue depth)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canary 10% trafic NOC via InferenceGraph KServe (shadow mode d'abord)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API : NOC ticketing tool → endpoint OpenAI-compatible (adapter service)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GitOps ArgoCD : promotion staging → prod via PR reviewée (4-eyes principle)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Grafana NOC : TTFT, error rate, GPU utilization, accuracy dérive, tokens/req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utilisateurs NOC : demi-journée × 3 équipes (rotation 24/7), 45 opérateurs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08960" y="1170432"/>
            <a:ext cx="2926080" cy="3291840"/>
          </a:xfrm>
          <a:prstGeom prst="rect">
            <a:avLst/>
          </a:prstGeom>
          <a:solidFill>
            <a:srgbClr val="1A2A3F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1170432"/>
            <a:ext cx="292608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3218688" y="12070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&amp; COMPÉTENCES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18688" y="1581912"/>
            <a:ext cx="272491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MLOps/Platform Engineer — KServe ServingRuntime, KEDA config, vLLM tuning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 OCP — RBAC prod, mTLS Service Mesh, cert-manager, NetworkPolicy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DevOps/GitOps — ArgoCD app-of-apps, pipeline promotion, rollback stratégie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Dev — API OpenAI-compatible, adapter ticketing Orange BSS/OSS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 Team Lead — validation fonctionnelle canary, formation opérateurs 24/7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— SLO/SLA définition, alerting PagerDuty, runbooks incident LLM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170432"/>
            <a:ext cx="2926080" cy="3291840"/>
          </a:xfrm>
          <a:prstGeom prst="rect">
            <a:avLst/>
          </a:prstGeom>
          <a:solidFill>
            <a:srgbClr val="1A2A3F"/>
          </a:solidFill>
          <a:ln w="19050">
            <a:solidFill>
              <a:srgbClr val="2ECC7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170432"/>
            <a:ext cx="2926080" cy="6400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7" name="Text 15"/>
          <p:cNvSpPr/>
          <p:nvPr/>
        </p:nvSpPr>
        <p:spPr>
          <a:xfrm>
            <a:off x="6236208" y="12070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&amp; EXIT CRITERIA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36208" y="1581912"/>
            <a:ext cx="272491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InferenceService prod opérationnel (SLA 99.5% uptime, 4 réplicas max)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Autoscaling validé sous charge surge P1 (×10 incidents/min en &lt; 90 sec)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100% trafic après 72h sans dégradation mesurée (TTFT + accuracy)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opérateurs NOC formés (score compréhension &gt; 80%, satisfaction &gt; 4/5)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J+7 post go-live : -22% mesurés vs baseline (early signal)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Go-Live officiel S28 — communication CODIR · Runbook prod validé RSSI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A0F1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572000"/>
            <a:ext cx="64008" cy="571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" y="4617720"/>
            <a:ext cx="8869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USE CASE TELCO  </a:t>
            </a:r>
            <a:pPr indent="0" marL="0">
              <a:buNone/>
            </a:pPr>
            <a:r>
              <a:rPr lang="en-US" sz="10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S21-24 : Canary 10%→50%→100% · S25 : Intégration ticketing Orange BSS · S28 : Go-Live officiel · MTTR J+7 = -22% · 45 NOC formés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64008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— Opérations &amp; Gouvernance Continue  [ S29–S36 ]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Briques : TrustyAI · Model Registry Champion/Challenger · Feast retraining · ArgoCD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046720" y="182880"/>
            <a:ext cx="960120" cy="457200"/>
          </a:xfrm>
          <a:prstGeom prst="rect">
            <a:avLst/>
          </a:prstGeom>
          <a:solidFill>
            <a:srgbClr val="2ECC71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0" y="18288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" y="1170432"/>
            <a:ext cx="2926080" cy="3291840"/>
          </a:xfrm>
          <a:prstGeom prst="rect">
            <a:avLst/>
          </a:prstGeom>
          <a:solidFill>
            <a:srgbClr val="1A2A3F"/>
          </a:solidFill>
          <a:ln w="19050">
            <a:solidFill>
              <a:srgbClr val="00B9C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" y="1170432"/>
            <a:ext cx="2926080" cy="64008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" y="12070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" y="1581912"/>
            <a:ext cx="272491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drift TrustyAI : seuil alerte si précision prod &lt; 85% (détection auto)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trigger Kubeflow Pipeline : nouveau corpus trimestriel (nouveaux équipements)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challenger-v2 : fine-tuning sur incidents 5G SA (Standalone Architecture) et Nokia AirScale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challenger-v2 via A/B test KServe (split 20/80, 2 semaines observation)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AI Act EU annuel : rapport TrustyAI biais + explainability SHAP par classe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roadmap : détection proactive pannes RAN (predictive analytics + llm-d edge)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ROI trimestriel : MTTR, tickets escaladés L1→L2, NPS opérateurs NOC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08960" y="1170432"/>
            <a:ext cx="2926080" cy="3291840"/>
          </a:xfrm>
          <a:prstGeom prst="rect">
            <a:avLst/>
          </a:prstGeom>
          <a:solidFill>
            <a:srgbClr val="1A2A3F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1170432"/>
            <a:ext cx="292608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3218688" y="12070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&amp; COMPÉTENCES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18688" y="1581912"/>
            <a:ext cx="272491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 — retraining pipeline, drift analysis, champion/challenger management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Lead — audit AI Act annuel, SHAP explainability, rapport DPO/RSSI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NOC — feedback continu (nouvelles classes incidents, cas limites signalés)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SRE — alerting drift Prometheus, pipeline retraining auto, rollback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IA — roadmap évolution (prédictif, multi-vendor, llm-d edge OCP)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 — extension use cases edge OpenVINO, scaling llm-d multi-nœuds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170432"/>
            <a:ext cx="2926080" cy="3291840"/>
          </a:xfrm>
          <a:prstGeom prst="rect">
            <a:avLst/>
          </a:prstGeom>
          <a:solidFill>
            <a:srgbClr val="1A2A3F"/>
          </a:solidFill>
          <a:ln w="19050">
            <a:solidFill>
              <a:srgbClr val="2ECC7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170432"/>
            <a:ext cx="2926080" cy="6400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7" name="Text 15"/>
          <p:cNvSpPr/>
          <p:nvPr/>
        </p:nvSpPr>
        <p:spPr>
          <a:xfrm>
            <a:off x="6236208" y="12070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&amp; EXIT CRITERIA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36208" y="1581912"/>
            <a:ext cx="272491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ROI S36 : -40% MTTR P1/P2 mesuré (vs baseline pré-LLM — objectif atteint)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challenger-v2 promu champion (précision 93.1% vs 92.4% — delta +0.7% sur 5G SA)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audit AI Act EU v2 signé DPO + RSSI (conformité maintenue)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retraining auto trimestriel opérationnel (zéro intervention manuelle)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route v2 approuvée : LLM prédictif panne RAN + edge OpenVINO OCP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Programme pérennisé S36 — budget récurrent validé CODIR · NPS NOC : 4.3/5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A0F1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572000"/>
            <a:ext cx="64008" cy="571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" y="4617720"/>
            <a:ext cx="8869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USE CASE TELCO  </a:t>
            </a:r>
            <a:pPr indent="0" marL="0">
              <a:buNone/>
            </a:pPr>
            <a:r>
              <a:rPr lang="en-US" sz="10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S29 : Drift détecté Nokia AirScale (nouveaux équipements 5G SA) → retraining S31 · S36 : -40% MTTR atteint · Budget v2 approuvé CODIR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64008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Rôles × Phases — Qui fait quoi 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 par phase : ● Lead  ◐ Support  ○ Consulté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" y="1143000"/>
            <a:ext cx="1920240" cy="384048"/>
          </a:xfrm>
          <a:prstGeom prst="rect">
            <a:avLst/>
          </a:prstGeom>
          <a:solidFill>
            <a:srgbClr val="0A0F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11430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1143000"/>
            <a:ext cx="1170432" cy="384048"/>
          </a:xfrm>
          <a:prstGeom prst="rect">
            <a:avLst/>
          </a:prstGeom>
          <a:solidFill>
            <a:srgbClr val="1A2A3F"/>
          </a:solidFill>
          <a:ln w="19050">
            <a:solidFill>
              <a:srgbClr val="00B9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143000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S1-S4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82112" y="1143000"/>
            <a:ext cx="1170432" cy="384048"/>
          </a:xfrm>
          <a:prstGeom prst="rect">
            <a:avLst/>
          </a:prstGeom>
          <a:solidFill>
            <a:srgbClr val="1A2A3F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82112" y="1143000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S5-S8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52544" y="1143000"/>
            <a:ext cx="1170432" cy="384048"/>
          </a:xfrm>
          <a:prstGeom prst="rect">
            <a:avLst/>
          </a:prstGeom>
          <a:solidFill>
            <a:srgbClr val="1A2A3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52544" y="1143000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S9-S16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522976" y="1143000"/>
            <a:ext cx="1170432" cy="384048"/>
          </a:xfrm>
          <a:prstGeom prst="rect">
            <a:avLst/>
          </a:prstGeom>
          <a:solidFill>
            <a:srgbClr val="1A2A3F"/>
          </a:solidFill>
          <a:ln w="19050">
            <a:solidFill>
              <a:srgbClr val="E63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22976" y="1143000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6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S17-S20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93408" y="1143000"/>
            <a:ext cx="1170432" cy="384048"/>
          </a:xfrm>
          <a:prstGeom prst="rect">
            <a:avLst/>
          </a:prstGeom>
          <a:solidFill>
            <a:srgbClr val="1A2A3F"/>
          </a:solidFill>
          <a:ln w="19050">
            <a:solidFill>
              <a:srgbClr val="00B9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3408" y="1143000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S21-S28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863840" y="1143000"/>
            <a:ext cx="1170432" cy="384048"/>
          </a:xfrm>
          <a:prstGeom prst="rect">
            <a:avLst/>
          </a:prstGeom>
          <a:solidFill>
            <a:srgbClr val="1A2A3F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1143000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S29-S36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1440" y="1554480"/>
            <a:ext cx="1920240" cy="384048"/>
          </a:xfrm>
          <a:prstGeom prst="rect">
            <a:avLst/>
          </a:prstGeom>
          <a:solidFill>
            <a:srgbClr val="1A2A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15544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011680" y="1554480"/>
            <a:ext cx="1170432" cy="384048"/>
          </a:xfrm>
          <a:prstGeom prst="rect">
            <a:avLst/>
          </a:prstGeom>
          <a:solidFill>
            <a:srgbClr val="1A2A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32304" y="1627632"/>
            <a:ext cx="329184" cy="23774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23" name="Text 21"/>
          <p:cNvSpPr/>
          <p:nvPr/>
        </p:nvSpPr>
        <p:spPr>
          <a:xfrm>
            <a:off x="2432304" y="1627632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82112" y="1554480"/>
            <a:ext cx="1170432" cy="384048"/>
          </a:xfrm>
          <a:prstGeom prst="rect">
            <a:avLst/>
          </a:prstGeom>
          <a:solidFill>
            <a:srgbClr val="1A2A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02736" y="1627632"/>
            <a:ext cx="329184" cy="23774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6" name="Text 24"/>
          <p:cNvSpPr/>
          <p:nvPr/>
        </p:nvSpPr>
        <p:spPr>
          <a:xfrm>
            <a:off x="3602736" y="1627632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52544" y="1554480"/>
            <a:ext cx="1170432" cy="384048"/>
          </a:xfrm>
          <a:prstGeom prst="rect">
            <a:avLst/>
          </a:prstGeom>
          <a:solidFill>
            <a:srgbClr val="1A2A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73168" y="1627632"/>
            <a:ext cx="329184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4773168" y="1627632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22976" y="1554480"/>
            <a:ext cx="1170432" cy="384048"/>
          </a:xfrm>
          <a:prstGeom prst="rect">
            <a:avLst/>
          </a:prstGeom>
          <a:solidFill>
            <a:srgbClr val="1A2A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1627632"/>
            <a:ext cx="329184" cy="237744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0" y="1627632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693408" y="1554480"/>
            <a:ext cx="1170432" cy="384048"/>
          </a:xfrm>
          <a:prstGeom prst="rect">
            <a:avLst/>
          </a:prstGeom>
          <a:solidFill>
            <a:srgbClr val="1A2A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14032" y="1627632"/>
            <a:ext cx="329184" cy="237744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35" name="Text 33"/>
          <p:cNvSpPr/>
          <p:nvPr/>
        </p:nvSpPr>
        <p:spPr>
          <a:xfrm>
            <a:off x="7114032" y="1627632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863840" y="1554480"/>
            <a:ext cx="1170432" cy="384048"/>
          </a:xfrm>
          <a:prstGeom prst="rect">
            <a:avLst/>
          </a:prstGeom>
          <a:solidFill>
            <a:srgbClr val="1A2A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84464" y="1627632"/>
            <a:ext cx="329184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8" name="Text 36"/>
          <p:cNvSpPr/>
          <p:nvPr/>
        </p:nvSpPr>
        <p:spPr>
          <a:xfrm>
            <a:off x="8284464" y="1627632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1440" y="1938528"/>
            <a:ext cx="1920240" cy="384048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2880" y="193852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011680" y="1938528"/>
            <a:ext cx="1170432" cy="384048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32304" y="2011680"/>
            <a:ext cx="329184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3" name="Text 41"/>
          <p:cNvSpPr/>
          <p:nvPr/>
        </p:nvSpPr>
        <p:spPr>
          <a:xfrm>
            <a:off x="2432304" y="2011680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182112" y="1938528"/>
            <a:ext cx="1170432" cy="384048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02736" y="2011680"/>
            <a:ext cx="329184" cy="23774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6" name="Text 44"/>
          <p:cNvSpPr/>
          <p:nvPr/>
        </p:nvSpPr>
        <p:spPr>
          <a:xfrm>
            <a:off x="3602736" y="2011680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352544" y="1938528"/>
            <a:ext cx="1170432" cy="384048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73168" y="2011680"/>
            <a:ext cx="329184" cy="23774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9" name="Text 47"/>
          <p:cNvSpPr/>
          <p:nvPr/>
        </p:nvSpPr>
        <p:spPr>
          <a:xfrm>
            <a:off x="4773168" y="2011680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522976" y="1938528"/>
            <a:ext cx="1170432" cy="384048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43600" y="2011680"/>
            <a:ext cx="329184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2" name="Text 50"/>
          <p:cNvSpPr/>
          <p:nvPr/>
        </p:nvSpPr>
        <p:spPr>
          <a:xfrm>
            <a:off x="5943600" y="2011680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693408" y="1938528"/>
            <a:ext cx="1170432" cy="384048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114032" y="2011680"/>
            <a:ext cx="329184" cy="237744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55" name="Text 53"/>
          <p:cNvSpPr/>
          <p:nvPr/>
        </p:nvSpPr>
        <p:spPr>
          <a:xfrm>
            <a:off x="7114032" y="2011680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863840" y="1938528"/>
            <a:ext cx="1170432" cy="384048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84464" y="2011680"/>
            <a:ext cx="329184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8" name="Text 56"/>
          <p:cNvSpPr/>
          <p:nvPr/>
        </p:nvSpPr>
        <p:spPr>
          <a:xfrm>
            <a:off x="8284464" y="2011680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91440" y="2322576"/>
            <a:ext cx="1920240" cy="384048"/>
          </a:xfrm>
          <a:prstGeom prst="rect">
            <a:avLst/>
          </a:prstGeom>
          <a:solidFill>
            <a:srgbClr val="1A2A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82880" y="232257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011680" y="2322576"/>
            <a:ext cx="1170432" cy="384048"/>
          </a:xfrm>
          <a:prstGeom prst="rect">
            <a:avLst/>
          </a:prstGeom>
          <a:solidFill>
            <a:srgbClr val="1A2A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432304" y="2395728"/>
            <a:ext cx="329184" cy="237744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63" name="Text 61"/>
          <p:cNvSpPr/>
          <p:nvPr/>
        </p:nvSpPr>
        <p:spPr>
          <a:xfrm>
            <a:off x="2432304" y="2395728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182112" y="2322576"/>
            <a:ext cx="1170432" cy="384048"/>
          </a:xfrm>
          <a:prstGeom prst="rect">
            <a:avLst/>
          </a:prstGeom>
          <a:solidFill>
            <a:srgbClr val="1A2A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602736" y="2395728"/>
            <a:ext cx="329184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6" name="Text 64"/>
          <p:cNvSpPr/>
          <p:nvPr/>
        </p:nvSpPr>
        <p:spPr>
          <a:xfrm>
            <a:off x="3602736" y="2395728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352544" y="2322576"/>
            <a:ext cx="1170432" cy="384048"/>
          </a:xfrm>
          <a:prstGeom prst="rect">
            <a:avLst/>
          </a:prstGeom>
          <a:solidFill>
            <a:srgbClr val="1A2A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73168" y="2395728"/>
            <a:ext cx="329184" cy="23774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9" name="Text 67"/>
          <p:cNvSpPr/>
          <p:nvPr/>
        </p:nvSpPr>
        <p:spPr>
          <a:xfrm>
            <a:off x="4773168" y="2395728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5522976" y="2322576"/>
            <a:ext cx="1170432" cy="384048"/>
          </a:xfrm>
          <a:prstGeom prst="rect">
            <a:avLst/>
          </a:prstGeom>
          <a:solidFill>
            <a:srgbClr val="1A2A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943600" y="2395728"/>
            <a:ext cx="329184" cy="237744"/>
          </a:xfrm>
          <a:prstGeom prst="rect">
            <a:avLst/>
          </a:prstGeom>
          <a:solidFill>
            <a:srgbClr val="E63030"/>
          </a:solidFill>
          <a:ln/>
        </p:spPr>
      </p:sp>
      <p:sp>
        <p:nvSpPr>
          <p:cNvPr id="72" name="Text 70"/>
          <p:cNvSpPr/>
          <p:nvPr/>
        </p:nvSpPr>
        <p:spPr>
          <a:xfrm>
            <a:off x="5943600" y="2395728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693408" y="2322576"/>
            <a:ext cx="1170432" cy="384048"/>
          </a:xfrm>
          <a:prstGeom prst="rect">
            <a:avLst/>
          </a:prstGeom>
          <a:solidFill>
            <a:srgbClr val="1A2A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114032" y="2395728"/>
            <a:ext cx="329184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5" name="Text 73"/>
          <p:cNvSpPr/>
          <p:nvPr/>
        </p:nvSpPr>
        <p:spPr>
          <a:xfrm>
            <a:off x="7114032" y="2395728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7863840" y="2322576"/>
            <a:ext cx="1170432" cy="384048"/>
          </a:xfrm>
          <a:prstGeom prst="rect">
            <a:avLst/>
          </a:prstGeom>
          <a:solidFill>
            <a:srgbClr val="1A2A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284464" y="2395728"/>
            <a:ext cx="329184" cy="23774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78" name="Text 76"/>
          <p:cNvSpPr/>
          <p:nvPr/>
        </p:nvSpPr>
        <p:spPr>
          <a:xfrm>
            <a:off x="8284464" y="2395728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91440" y="2706624"/>
            <a:ext cx="1920240" cy="384048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82880" y="270662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Engineer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2011680" y="2706624"/>
            <a:ext cx="1170432" cy="384048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432304" y="2779776"/>
            <a:ext cx="329184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3" name="Text 81"/>
          <p:cNvSpPr/>
          <p:nvPr/>
        </p:nvSpPr>
        <p:spPr>
          <a:xfrm>
            <a:off x="2432304" y="2779776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3182112" y="2706624"/>
            <a:ext cx="1170432" cy="384048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602736" y="2779776"/>
            <a:ext cx="329184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6" name="Text 84"/>
          <p:cNvSpPr/>
          <p:nvPr/>
        </p:nvSpPr>
        <p:spPr>
          <a:xfrm>
            <a:off x="3602736" y="2779776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4352544" y="2706624"/>
            <a:ext cx="1170432" cy="384048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773168" y="2779776"/>
            <a:ext cx="329184" cy="23774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9" name="Text 87"/>
          <p:cNvSpPr/>
          <p:nvPr/>
        </p:nvSpPr>
        <p:spPr>
          <a:xfrm>
            <a:off x="4773168" y="2779776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5522976" y="2706624"/>
            <a:ext cx="1170432" cy="384048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943600" y="2779776"/>
            <a:ext cx="329184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2" name="Text 90"/>
          <p:cNvSpPr/>
          <p:nvPr/>
        </p:nvSpPr>
        <p:spPr>
          <a:xfrm>
            <a:off x="5943600" y="2779776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6693408" y="2706624"/>
            <a:ext cx="1170432" cy="384048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114032" y="2779776"/>
            <a:ext cx="329184" cy="23774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95" name="Text 93"/>
          <p:cNvSpPr/>
          <p:nvPr/>
        </p:nvSpPr>
        <p:spPr>
          <a:xfrm>
            <a:off x="7114032" y="2779776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7863840" y="2706624"/>
            <a:ext cx="1170432" cy="384048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284464" y="2779776"/>
            <a:ext cx="329184" cy="23774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98" name="Text 96"/>
          <p:cNvSpPr/>
          <p:nvPr/>
        </p:nvSpPr>
        <p:spPr>
          <a:xfrm>
            <a:off x="8284464" y="2779776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91440" y="3090672"/>
            <a:ext cx="1920240" cy="384048"/>
          </a:xfrm>
          <a:prstGeom prst="rect">
            <a:avLst/>
          </a:prstGeom>
          <a:solidFill>
            <a:srgbClr val="1A2A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82880" y="3090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 OCP/IA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2011680" y="3090672"/>
            <a:ext cx="1170432" cy="384048"/>
          </a:xfrm>
          <a:prstGeom prst="rect">
            <a:avLst/>
          </a:prstGeom>
          <a:solidFill>
            <a:srgbClr val="1A2A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432304" y="3163824"/>
            <a:ext cx="329184" cy="23774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103" name="Text 101"/>
          <p:cNvSpPr/>
          <p:nvPr/>
        </p:nvSpPr>
        <p:spPr>
          <a:xfrm>
            <a:off x="2432304" y="3163824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3182112" y="3090672"/>
            <a:ext cx="1170432" cy="384048"/>
          </a:xfrm>
          <a:prstGeom prst="rect">
            <a:avLst/>
          </a:prstGeom>
          <a:solidFill>
            <a:srgbClr val="1A2A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602736" y="3163824"/>
            <a:ext cx="329184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6" name="Text 104"/>
          <p:cNvSpPr/>
          <p:nvPr/>
        </p:nvSpPr>
        <p:spPr>
          <a:xfrm>
            <a:off x="3602736" y="3163824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4352544" y="3090672"/>
            <a:ext cx="1170432" cy="384048"/>
          </a:xfrm>
          <a:prstGeom prst="rect">
            <a:avLst/>
          </a:prstGeom>
          <a:solidFill>
            <a:srgbClr val="1A2A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773168" y="3163824"/>
            <a:ext cx="329184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9" name="Text 107"/>
          <p:cNvSpPr/>
          <p:nvPr/>
        </p:nvSpPr>
        <p:spPr>
          <a:xfrm>
            <a:off x="4773168" y="3163824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5522976" y="3090672"/>
            <a:ext cx="1170432" cy="384048"/>
          </a:xfrm>
          <a:prstGeom prst="rect">
            <a:avLst/>
          </a:prstGeom>
          <a:solidFill>
            <a:srgbClr val="1A2A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943600" y="3163824"/>
            <a:ext cx="329184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2" name="Text 110"/>
          <p:cNvSpPr/>
          <p:nvPr/>
        </p:nvSpPr>
        <p:spPr>
          <a:xfrm>
            <a:off x="5943600" y="3163824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6693408" y="3090672"/>
            <a:ext cx="1170432" cy="384048"/>
          </a:xfrm>
          <a:prstGeom prst="rect">
            <a:avLst/>
          </a:prstGeom>
          <a:solidFill>
            <a:srgbClr val="1A2A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114032" y="3163824"/>
            <a:ext cx="329184" cy="23774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115" name="Text 113"/>
          <p:cNvSpPr/>
          <p:nvPr/>
        </p:nvSpPr>
        <p:spPr>
          <a:xfrm>
            <a:off x="7114032" y="3163824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7863840" y="3090672"/>
            <a:ext cx="1170432" cy="384048"/>
          </a:xfrm>
          <a:prstGeom prst="rect">
            <a:avLst/>
          </a:prstGeom>
          <a:solidFill>
            <a:srgbClr val="1A2A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284464" y="3163824"/>
            <a:ext cx="329184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8" name="Text 116"/>
          <p:cNvSpPr/>
          <p:nvPr/>
        </p:nvSpPr>
        <p:spPr>
          <a:xfrm>
            <a:off x="8284464" y="3163824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91440" y="3474720"/>
            <a:ext cx="1920240" cy="384048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82880" y="3474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Lead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2011680" y="3474720"/>
            <a:ext cx="1170432" cy="384048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2432304" y="3547872"/>
            <a:ext cx="329184" cy="237744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123" name="Text 121"/>
          <p:cNvSpPr/>
          <p:nvPr/>
        </p:nvSpPr>
        <p:spPr>
          <a:xfrm>
            <a:off x="2432304" y="3547872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24" name="Shape 122"/>
          <p:cNvSpPr/>
          <p:nvPr/>
        </p:nvSpPr>
        <p:spPr>
          <a:xfrm>
            <a:off x="3182112" y="3474720"/>
            <a:ext cx="1170432" cy="384048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3602736" y="3547872"/>
            <a:ext cx="329184" cy="237744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126" name="Text 124"/>
          <p:cNvSpPr/>
          <p:nvPr/>
        </p:nvSpPr>
        <p:spPr>
          <a:xfrm>
            <a:off x="3602736" y="3547872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27" name="Shape 125"/>
          <p:cNvSpPr/>
          <p:nvPr/>
        </p:nvSpPr>
        <p:spPr>
          <a:xfrm>
            <a:off x="4352544" y="3474720"/>
            <a:ext cx="1170432" cy="384048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773168" y="3547872"/>
            <a:ext cx="329184" cy="237744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129" name="Text 127"/>
          <p:cNvSpPr/>
          <p:nvPr/>
        </p:nvSpPr>
        <p:spPr>
          <a:xfrm>
            <a:off x="4773168" y="3547872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30" name="Shape 128"/>
          <p:cNvSpPr/>
          <p:nvPr/>
        </p:nvSpPr>
        <p:spPr>
          <a:xfrm>
            <a:off x="5522976" y="3474720"/>
            <a:ext cx="1170432" cy="384048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943600" y="3547872"/>
            <a:ext cx="329184" cy="237744"/>
          </a:xfrm>
          <a:prstGeom prst="rect">
            <a:avLst/>
          </a:prstGeom>
          <a:solidFill>
            <a:srgbClr val="E63030"/>
          </a:solidFill>
          <a:ln/>
        </p:spPr>
      </p:sp>
      <p:sp>
        <p:nvSpPr>
          <p:cNvPr id="132" name="Text 130"/>
          <p:cNvSpPr/>
          <p:nvPr/>
        </p:nvSpPr>
        <p:spPr>
          <a:xfrm>
            <a:off x="5943600" y="3547872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33" name="Shape 131"/>
          <p:cNvSpPr/>
          <p:nvPr/>
        </p:nvSpPr>
        <p:spPr>
          <a:xfrm>
            <a:off x="6693408" y="3474720"/>
            <a:ext cx="1170432" cy="384048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114032" y="3547872"/>
            <a:ext cx="329184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5" name="Text 133"/>
          <p:cNvSpPr/>
          <p:nvPr/>
        </p:nvSpPr>
        <p:spPr>
          <a:xfrm>
            <a:off x="7114032" y="3547872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36" name="Shape 134"/>
          <p:cNvSpPr/>
          <p:nvPr/>
        </p:nvSpPr>
        <p:spPr>
          <a:xfrm>
            <a:off x="7863840" y="3474720"/>
            <a:ext cx="1170432" cy="384048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284464" y="3547872"/>
            <a:ext cx="329184" cy="23774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38" name="Text 136"/>
          <p:cNvSpPr/>
          <p:nvPr/>
        </p:nvSpPr>
        <p:spPr>
          <a:xfrm>
            <a:off x="8284464" y="3547872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39" name="Shape 137"/>
          <p:cNvSpPr/>
          <p:nvPr/>
        </p:nvSpPr>
        <p:spPr>
          <a:xfrm>
            <a:off x="91440" y="3858768"/>
            <a:ext cx="1920240" cy="384048"/>
          </a:xfrm>
          <a:prstGeom prst="rect">
            <a:avLst/>
          </a:prstGeom>
          <a:solidFill>
            <a:srgbClr val="1A2A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182880" y="38587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NOC / Métier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2011680" y="3858768"/>
            <a:ext cx="1170432" cy="384048"/>
          </a:xfrm>
          <a:prstGeom prst="rect">
            <a:avLst/>
          </a:prstGeom>
          <a:solidFill>
            <a:srgbClr val="1A2A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432304" y="3931920"/>
            <a:ext cx="329184" cy="23774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143" name="Text 141"/>
          <p:cNvSpPr/>
          <p:nvPr/>
        </p:nvSpPr>
        <p:spPr>
          <a:xfrm>
            <a:off x="2432304" y="3931920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44" name="Shape 142"/>
          <p:cNvSpPr/>
          <p:nvPr/>
        </p:nvSpPr>
        <p:spPr>
          <a:xfrm>
            <a:off x="3182112" y="3858768"/>
            <a:ext cx="1170432" cy="384048"/>
          </a:xfrm>
          <a:prstGeom prst="rect">
            <a:avLst/>
          </a:prstGeom>
          <a:solidFill>
            <a:srgbClr val="1A2A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3602736" y="3931920"/>
            <a:ext cx="329184" cy="23774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46" name="Text 144"/>
          <p:cNvSpPr/>
          <p:nvPr/>
        </p:nvSpPr>
        <p:spPr>
          <a:xfrm>
            <a:off x="3602736" y="3931920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47" name="Shape 145"/>
          <p:cNvSpPr/>
          <p:nvPr/>
        </p:nvSpPr>
        <p:spPr>
          <a:xfrm>
            <a:off x="4352544" y="3858768"/>
            <a:ext cx="1170432" cy="384048"/>
          </a:xfrm>
          <a:prstGeom prst="rect">
            <a:avLst/>
          </a:prstGeom>
          <a:solidFill>
            <a:srgbClr val="1A2A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4773168" y="3931920"/>
            <a:ext cx="329184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9" name="Text 147"/>
          <p:cNvSpPr/>
          <p:nvPr/>
        </p:nvSpPr>
        <p:spPr>
          <a:xfrm>
            <a:off x="4773168" y="3931920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50" name="Shape 148"/>
          <p:cNvSpPr/>
          <p:nvPr/>
        </p:nvSpPr>
        <p:spPr>
          <a:xfrm>
            <a:off x="5522976" y="3858768"/>
            <a:ext cx="1170432" cy="384048"/>
          </a:xfrm>
          <a:prstGeom prst="rect">
            <a:avLst/>
          </a:prstGeom>
          <a:solidFill>
            <a:srgbClr val="1A2A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943600" y="3931920"/>
            <a:ext cx="329184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2" name="Text 150"/>
          <p:cNvSpPr/>
          <p:nvPr/>
        </p:nvSpPr>
        <p:spPr>
          <a:xfrm>
            <a:off x="5943600" y="3931920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53" name="Shape 151"/>
          <p:cNvSpPr/>
          <p:nvPr/>
        </p:nvSpPr>
        <p:spPr>
          <a:xfrm>
            <a:off x="6693408" y="3858768"/>
            <a:ext cx="1170432" cy="384048"/>
          </a:xfrm>
          <a:prstGeom prst="rect">
            <a:avLst/>
          </a:prstGeom>
          <a:solidFill>
            <a:srgbClr val="1A2A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114032" y="3931920"/>
            <a:ext cx="329184" cy="23774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155" name="Text 153"/>
          <p:cNvSpPr/>
          <p:nvPr/>
        </p:nvSpPr>
        <p:spPr>
          <a:xfrm>
            <a:off x="7114032" y="3931920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56" name="Shape 154"/>
          <p:cNvSpPr/>
          <p:nvPr/>
        </p:nvSpPr>
        <p:spPr>
          <a:xfrm>
            <a:off x="7863840" y="3858768"/>
            <a:ext cx="1170432" cy="384048"/>
          </a:xfrm>
          <a:prstGeom prst="rect">
            <a:avLst/>
          </a:prstGeom>
          <a:solidFill>
            <a:srgbClr val="1A2A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284464" y="3931920"/>
            <a:ext cx="329184" cy="23774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58" name="Text 156"/>
          <p:cNvSpPr/>
          <p:nvPr/>
        </p:nvSpPr>
        <p:spPr>
          <a:xfrm>
            <a:off x="8284464" y="3931920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59" name="Shape 157"/>
          <p:cNvSpPr/>
          <p:nvPr/>
        </p:nvSpPr>
        <p:spPr>
          <a:xfrm>
            <a:off x="91440" y="4242816"/>
            <a:ext cx="1920240" cy="384048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182880" y="424281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IA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2011680" y="4242816"/>
            <a:ext cx="1170432" cy="384048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2432304" y="4315968"/>
            <a:ext cx="329184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3" name="Text 161"/>
          <p:cNvSpPr/>
          <p:nvPr/>
        </p:nvSpPr>
        <p:spPr>
          <a:xfrm>
            <a:off x="2432304" y="4315968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64" name="Shape 162"/>
          <p:cNvSpPr/>
          <p:nvPr/>
        </p:nvSpPr>
        <p:spPr>
          <a:xfrm>
            <a:off x="3182112" y="4242816"/>
            <a:ext cx="1170432" cy="384048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3602736" y="4315968"/>
            <a:ext cx="329184" cy="23774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66" name="Text 164"/>
          <p:cNvSpPr/>
          <p:nvPr/>
        </p:nvSpPr>
        <p:spPr>
          <a:xfrm>
            <a:off x="3602736" y="4315968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67" name="Shape 165"/>
          <p:cNvSpPr/>
          <p:nvPr/>
        </p:nvSpPr>
        <p:spPr>
          <a:xfrm>
            <a:off x="4352544" y="4242816"/>
            <a:ext cx="1170432" cy="384048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4773168" y="4315968"/>
            <a:ext cx="329184" cy="23774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9" name="Text 167"/>
          <p:cNvSpPr/>
          <p:nvPr/>
        </p:nvSpPr>
        <p:spPr>
          <a:xfrm>
            <a:off x="4773168" y="4315968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70" name="Shape 168"/>
          <p:cNvSpPr/>
          <p:nvPr/>
        </p:nvSpPr>
        <p:spPr>
          <a:xfrm>
            <a:off x="5522976" y="4242816"/>
            <a:ext cx="1170432" cy="384048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5943600" y="4315968"/>
            <a:ext cx="329184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2" name="Text 170"/>
          <p:cNvSpPr/>
          <p:nvPr/>
        </p:nvSpPr>
        <p:spPr>
          <a:xfrm>
            <a:off x="5943600" y="4315968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73" name="Shape 171"/>
          <p:cNvSpPr/>
          <p:nvPr/>
        </p:nvSpPr>
        <p:spPr>
          <a:xfrm>
            <a:off x="6693408" y="4242816"/>
            <a:ext cx="1170432" cy="384048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7114032" y="4315968"/>
            <a:ext cx="329184" cy="23774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175" name="Text 173"/>
          <p:cNvSpPr/>
          <p:nvPr/>
        </p:nvSpPr>
        <p:spPr>
          <a:xfrm>
            <a:off x="7114032" y="4315968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76" name="Shape 174"/>
          <p:cNvSpPr/>
          <p:nvPr/>
        </p:nvSpPr>
        <p:spPr>
          <a:xfrm>
            <a:off x="7863840" y="4242816"/>
            <a:ext cx="1170432" cy="384048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284464" y="4315968"/>
            <a:ext cx="329184" cy="23774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78" name="Text 176"/>
          <p:cNvSpPr/>
          <p:nvPr/>
        </p:nvSpPr>
        <p:spPr>
          <a:xfrm>
            <a:off x="8284464" y="4315968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79" name="Shape 177"/>
          <p:cNvSpPr/>
          <p:nvPr/>
        </p:nvSpPr>
        <p:spPr>
          <a:xfrm>
            <a:off x="91440" y="4626864"/>
            <a:ext cx="1920240" cy="384048"/>
          </a:xfrm>
          <a:prstGeom prst="rect">
            <a:avLst/>
          </a:prstGeom>
          <a:solidFill>
            <a:srgbClr val="1A2A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182880" y="462686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/ Platform</a:t>
            </a:r>
            <a:endParaRPr lang="en-US" sz="900" dirty="0"/>
          </a:p>
        </p:txBody>
      </p:sp>
      <p:sp>
        <p:nvSpPr>
          <p:cNvPr id="181" name="Shape 179"/>
          <p:cNvSpPr/>
          <p:nvPr/>
        </p:nvSpPr>
        <p:spPr>
          <a:xfrm>
            <a:off x="2011680" y="4626864"/>
            <a:ext cx="1170432" cy="384048"/>
          </a:xfrm>
          <a:prstGeom prst="rect">
            <a:avLst/>
          </a:prstGeom>
          <a:solidFill>
            <a:srgbClr val="1A2A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2432304" y="4700016"/>
            <a:ext cx="329184" cy="237744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183" name="Text 181"/>
          <p:cNvSpPr/>
          <p:nvPr/>
        </p:nvSpPr>
        <p:spPr>
          <a:xfrm>
            <a:off x="2432304" y="4700016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84" name="Shape 182"/>
          <p:cNvSpPr/>
          <p:nvPr/>
        </p:nvSpPr>
        <p:spPr>
          <a:xfrm>
            <a:off x="3182112" y="4626864"/>
            <a:ext cx="1170432" cy="384048"/>
          </a:xfrm>
          <a:prstGeom prst="rect">
            <a:avLst/>
          </a:prstGeom>
          <a:solidFill>
            <a:srgbClr val="1A2A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3602736" y="4700016"/>
            <a:ext cx="329184" cy="237744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186" name="Text 184"/>
          <p:cNvSpPr/>
          <p:nvPr/>
        </p:nvSpPr>
        <p:spPr>
          <a:xfrm>
            <a:off x="3602736" y="4700016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87" name="Shape 185"/>
          <p:cNvSpPr/>
          <p:nvPr/>
        </p:nvSpPr>
        <p:spPr>
          <a:xfrm>
            <a:off x="4352544" y="4626864"/>
            <a:ext cx="1170432" cy="384048"/>
          </a:xfrm>
          <a:prstGeom prst="rect">
            <a:avLst/>
          </a:prstGeom>
          <a:solidFill>
            <a:srgbClr val="1A2A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4773168" y="4700016"/>
            <a:ext cx="329184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9" name="Text 187"/>
          <p:cNvSpPr/>
          <p:nvPr/>
        </p:nvSpPr>
        <p:spPr>
          <a:xfrm>
            <a:off x="4773168" y="4700016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90" name="Shape 188"/>
          <p:cNvSpPr/>
          <p:nvPr/>
        </p:nvSpPr>
        <p:spPr>
          <a:xfrm>
            <a:off x="5522976" y="4626864"/>
            <a:ext cx="1170432" cy="384048"/>
          </a:xfrm>
          <a:prstGeom prst="rect">
            <a:avLst/>
          </a:prstGeom>
          <a:solidFill>
            <a:srgbClr val="1A2A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5943600" y="4700016"/>
            <a:ext cx="329184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2" name="Text 190"/>
          <p:cNvSpPr/>
          <p:nvPr/>
        </p:nvSpPr>
        <p:spPr>
          <a:xfrm>
            <a:off x="5943600" y="4700016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93" name="Shape 191"/>
          <p:cNvSpPr/>
          <p:nvPr/>
        </p:nvSpPr>
        <p:spPr>
          <a:xfrm>
            <a:off x="6693408" y="4626864"/>
            <a:ext cx="1170432" cy="384048"/>
          </a:xfrm>
          <a:prstGeom prst="rect">
            <a:avLst/>
          </a:prstGeom>
          <a:solidFill>
            <a:srgbClr val="1A2A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114032" y="4700016"/>
            <a:ext cx="329184" cy="237744"/>
          </a:xfrm>
          <a:prstGeom prst="rect">
            <a:avLst/>
          </a:prstGeom>
          <a:solidFill>
            <a:srgbClr val="00B9CE"/>
          </a:solidFill>
          <a:ln/>
        </p:spPr>
      </p:sp>
      <p:sp>
        <p:nvSpPr>
          <p:cNvPr id="195" name="Text 193"/>
          <p:cNvSpPr/>
          <p:nvPr/>
        </p:nvSpPr>
        <p:spPr>
          <a:xfrm>
            <a:off x="7114032" y="4700016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96" name="Shape 194"/>
          <p:cNvSpPr/>
          <p:nvPr/>
        </p:nvSpPr>
        <p:spPr>
          <a:xfrm>
            <a:off x="7863840" y="4626864"/>
            <a:ext cx="1170432" cy="384048"/>
          </a:xfrm>
          <a:prstGeom prst="rect">
            <a:avLst/>
          </a:prstGeom>
          <a:solidFill>
            <a:srgbClr val="1A2A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8284464" y="4700016"/>
            <a:ext cx="329184" cy="23774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98" name="Text 196"/>
          <p:cNvSpPr/>
          <p:nvPr/>
        </p:nvSpPr>
        <p:spPr>
          <a:xfrm>
            <a:off x="8284464" y="4700016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99" name="Shape 197"/>
          <p:cNvSpPr/>
          <p:nvPr/>
        </p:nvSpPr>
        <p:spPr>
          <a:xfrm>
            <a:off x="91440" y="4645152"/>
            <a:ext cx="8961120" cy="411480"/>
          </a:xfrm>
          <a:prstGeom prst="rect">
            <a:avLst/>
          </a:prstGeom>
          <a:solidFill>
            <a:srgbClr val="0A0F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91440" y="466344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● Lead (décide &amp; produit)  </a:t>
            </a:r>
            <a:pPr indent="0" marL="0">
              <a:buNone/>
            </a:pPr>
            <a:r>
              <a:rPr lang="en-US" sz="900" dirty="0">
                <a:solidFill>
                  <a:srgbClr val="C5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◐ Support (contribue)  </a:t>
            </a:r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○ Consulté (valide/approuve)  </a:t>
            </a:r>
            <a:pPr indent="0" marL="0">
              <a:buNone/>
            </a:pPr>
            <a:r>
              <a:rPr lang="en-US" sz="9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FTE requis : 6 profils actifs · Budget humain estimé : ~4 FTE équivalent plein temps sur 9 mois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Hat OpenShift AI — Décryptage Expert</dc:title>
  <dc:subject>PptxGenJS Presentation</dc:subject>
  <dc:creator>PptxGenJS</dc:creator>
  <cp:lastModifiedBy>PptxGenJS</cp:lastModifiedBy>
  <cp:revision>1</cp:revision>
  <dcterms:created xsi:type="dcterms:W3CDTF">2026-06-08T14:11:15Z</dcterms:created>
  <dcterms:modified xsi:type="dcterms:W3CDTF">2026-06-08T14:11:15Z</dcterms:modified>
</cp:coreProperties>
</file>